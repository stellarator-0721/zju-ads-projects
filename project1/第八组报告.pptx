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8" r:id="rId4"/>
    <p:sldId id="266" r:id="rId5"/>
    <p:sldId id="260" r:id="rId6"/>
    <p:sldId id="257" r:id="rId7"/>
    <p:sldId id="261" r:id="rId9"/>
    <p:sldId id="262" r:id="rId10"/>
    <p:sldId id="263" r:id="rId11"/>
    <p:sldId id="259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你再添加点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5.xml"/><Relationship Id="rId2" Type="http://schemas.openxmlformats.org/officeDocument/2006/relationships/image" Target="../media/image4.jpeg"/><Relationship Id="rId1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audio" Target="../media/audio1.wav"/><Relationship Id="rId3" Type="http://schemas.openxmlformats.org/officeDocument/2006/relationships/tags" Target="../tags/tag67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3.wav"/><Relationship Id="rId1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622358" y="1743075"/>
            <a:ext cx="5116195" cy="2168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>
              <a:spcBef>
                <a:spcPct val="50000"/>
              </a:spcBef>
              <a:buClrTx/>
              <a:buSzTx/>
              <a:buNone/>
            </a:pPr>
            <a:r>
              <a:rPr lang="en-US" altLang="zh-CN" sz="5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B+ Tree and</a:t>
            </a:r>
            <a:endParaRPr lang="en-US" altLang="zh-CN" sz="5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fontAlgn="base">
              <a:spcBef>
                <a:spcPct val="50000"/>
              </a:spcBef>
              <a:buClrTx/>
              <a:buSzTx/>
              <a:buNone/>
            </a:pPr>
            <a:r>
              <a:rPr lang="en-US" altLang="zh-CN" sz="5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Datebase System</a:t>
            </a:r>
            <a:endParaRPr lang="en-US" altLang="zh-CN" sz="5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3100" y="4211955"/>
            <a:ext cx="3676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——Short report of Group 8</a:t>
            </a:r>
            <a:endParaRPr lang="en-US" altLang="zh-CN" sz="20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022715" y="0"/>
            <a:ext cx="3112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base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B+ Tree and Datebase System</a:t>
            </a:r>
            <a:endParaRPr lang="en-US" altLang="zh-CN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8485" y="368300"/>
            <a:ext cx="7695565" cy="1601470"/>
            <a:chOff x="911" y="580"/>
            <a:chExt cx="12119" cy="2522"/>
          </a:xfrm>
        </p:grpSpPr>
        <p:graphicFrame>
          <p:nvGraphicFramePr>
            <p:cNvPr id="102411" name="Object 11"/>
            <p:cNvGraphicFramePr>
              <a:graphicFrameLocks noChangeAspect="1"/>
            </p:cNvGraphicFramePr>
            <p:nvPr/>
          </p:nvGraphicFramePr>
          <p:xfrm>
            <a:off x="10980" y="940"/>
            <a:ext cx="2050" cy="2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" imgW="2166620" imgH="2287270" progId="MS_ClipArt_Gallery.2">
                    <p:embed/>
                  </p:oleObj>
                </mc:Choice>
                <mc:Fallback>
                  <p:oleObj name="" r:id="rId1" imgW="2166620" imgH="2287270" progId="MS_ClipArt_Gallery.2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980" y="940"/>
                          <a:ext cx="2050" cy="21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2" name="AutoShape 12"/>
            <p:cNvSpPr/>
            <p:nvPr/>
          </p:nvSpPr>
          <p:spPr>
            <a:xfrm flipH="1">
              <a:off x="911" y="580"/>
              <a:ext cx="8280" cy="2280"/>
            </a:xfrm>
            <a:prstGeom prst="cloudCallout">
              <a:avLst>
                <a:gd name="adj1" fmla="val -72676"/>
                <a:gd name="adj2" fmla="val 2301"/>
              </a:avLst>
            </a:prstGeom>
            <a:gradFill rotWithShape="0">
              <a:gsLst>
                <a:gs pos="0">
                  <a:srgbClr val="CCFFCC"/>
                </a:gs>
                <a:gs pos="100000">
                  <a:srgbClr val="91B591"/>
                </a:gs>
              </a:gsLst>
              <a:lin ang="2700000" scaled="1"/>
              <a:tileRect/>
            </a:gradFill>
            <a:ln w="9525" cap="flat" cmpd="sng">
              <a:solidFill>
                <a:srgbClr val="CC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10800" rIns="0" bIns="10800" anchor="ctr" anchorCtr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What is the key drawbacks of disk storage? 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571500" y="2429510"/>
            <a:ext cx="11162030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Significant Speed Bottleneck: Relies on physical movement (seek time + rotation),  resulting in millisecond-level access latency. This is tens of thousands of times slower than nanosecond-level memory access.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00" y="3801745"/>
            <a:ext cx="1116266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Poor Random I/O Performance: Random read/write operations cause frequent head movement, making them a primary performance "killer."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1500" y="4908550"/>
            <a:ext cx="111620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Core Design Imperative: Due to its slow nature, the fundamental goal in system design is to minimize disk I/O operations at all costs, particularly random I/O.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2915" y="26035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000" dirty="0">
                <a:solidFill>
                  <a:schemeClr val="hlink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</a:t>
            </a:r>
            <a:endParaRPr lang="en-US" altLang="zh-CN" sz="6000" dirty="0">
              <a:solidFill>
                <a:schemeClr val="hlink"/>
              </a:solidFill>
              <a:latin typeface="Times New Roman" panose="02020603050405020304" pitchFamily="18" charset="0"/>
              <a:sym typeface="Webdings" panose="05030102010509060703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47495" y="506730"/>
            <a:ext cx="4288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>
                <a:latin typeface="Impact" panose="020B0806030902050204" pitchFamily="34" charset="0"/>
              </a:rPr>
              <a:t>The Principle of Locality</a:t>
            </a:r>
            <a:endParaRPr lang="en-US" altLang="zh-CN" sz="2800" dirty="0">
              <a:latin typeface="Impact" panose="020B080603090205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2915" y="1360805"/>
            <a:ext cx="2547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Core Idea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2915" y="1906905"/>
            <a:ext cx="10514330" cy="768350"/>
          </a:xfrm>
          <a:prstGeom prst="rect">
            <a:avLst/>
          </a:prstGeom>
        </p:spPr>
        <p:txBody>
          <a:bodyPr wrap="square">
            <a:spAutoFit/>
          </a:bodyPr>
          <a:p>
            <a:pPr marL="485775" indent="-485775" algn="l">
              <a:buClrTx/>
              <a:buSzTx/>
              <a:buFontTx/>
            </a:pPr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000" b="1" i="0" dirty="0">
                <a:latin typeface="Arial" panose="020B0604020202020204" pitchFamily="34" charset="0"/>
              </a:rPr>
              <a:t>When a program accesses a memory location, it is highly likely that nearby</a:t>
            </a:r>
            <a:endParaRPr lang="en-US" altLang="zh-CN" sz="2000" b="1" i="0" dirty="0">
              <a:latin typeface="Arial" panose="020B0604020202020204" pitchFamily="34" charset="0"/>
            </a:endParaRPr>
          </a:p>
          <a:p>
            <a:pPr marL="485775" indent="-485775" algn="l">
              <a:buClrTx/>
              <a:buSzTx/>
              <a:buFontTx/>
            </a:pPr>
            <a:r>
              <a:rPr lang="en-US" altLang="zh-CN" sz="2000" b="1" i="0" dirty="0">
                <a:latin typeface="Arial" panose="020B0604020202020204" pitchFamily="34" charset="0"/>
              </a:rPr>
              <a:t>memory locations will be accessed in the near future.</a:t>
            </a:r>
            <a:endParaRPr lang="en-US" altLang="zh-CN" sz="2000" b="1" i="0" dirty="0"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915" y="361473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24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endParaRPr lang="en-US" altLang="zh-CN" sz="2400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915" y="420084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buClrTx/>
              <a:buSzTx/>
              <a:buFontTx/>
            </a:pPr>
            <a:r>
              <a:rPr lang="en-US" altLang="zh-CN" sz="24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Virtual Memory</a:t>
            </a:r>
            <a:endParaRPr lang="en-US" altLang="zh-CN" sz="2400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915" y="487394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buClrTx/>
              <a:buSzTx/>
              <a:buFontTx/>
            </a:pPr>
            <a:r>
              <a:rPr lang="en-US" altLang="zh-CN" sz="24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Prefetching</a:t>
            </a:r>
            <a:endParaRPr lang="en-US" altLang="zh-CN" sz="2400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2125" y="296862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Implication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022715" y="0"/>
            <a:ext cx="3112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base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B+ Tree and Datebase System</a:t>
            </a:r>
            <a:endParaRPr lang="en-US" altLang="zh-CN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16" name="Group 61"/>
          <p:cNvGrpSpPr/>
          <p:nvPr/>
        </p:nvGrpSpPr>
        <p:grpSpPr>
          <a:xfrm>
            <a:off x="182880" y="368300"/>
            <a:ext cx="7696200" cy="1202055"/>
            <a:chOff x="384" y="1440"/>
            <a:chExt cx="4848" cy="866"/>
          </a:xfrm>
        </p:grpSpPr>
        <p:pic>
          <p:nvPicPr>
            <p:cNvPr id="4113" name="Picture 62" descr="LIGHTBLB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4" y="1440"/>
              <a:ext cx="791" cy="86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14" name="Rectangle 63"/>
            <p:cNvSpPr/>
            <p:nvPr/>
          </p:nvSpPr>
          <p:spPr>
            <a:xfrm>
              <a:off x="1104" y="1632"/>
              <a:ext cx="4128" cy="587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p>
              <a:pPr marL="952500" indent="-952500"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Impact" panose="020B0806030902050204" pitchFamily="34" charset="0"/>
                </a:rPr>
                <a:t>Idea :</a:t>
              </a:r>
              <a:r>
                <a:rPr lang="en-US" altLang="zh-CN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So why do we use B+ trees?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9406" name="AutoShape 14" descr="再生纸"/>
          <p:cNvSpPr>
            <a:spLocks noChangeArrowheads="1"/>
          </p:cNvSpPr>
          <p:nvPr/>
        </p:nvSpPr>
        <p:spPr bwMode="auto">
          <a:xfrm>
            <a:off x="443230" y="1570355"/>
            <a:ext cx="10518140" cy="4565015"/>
          </a:xfrm>
          <a:prstGeom prst="roundRect">
            <a:avLst>
              <a:gd name="adj" fmla="val 956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162000" rIns="162000" bIns="118800" anchor="ctr"/>
          <a:p>
            <a:pPr marL="384175" marR="0" lvl="0" indent="-384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Note: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84175" marR="0" lvl="0" indent="-384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Structural Advantage: Its short, bushy tree structure minimizes disk I/O for data lookup.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84175" marR="0" lvl="0" indent="-384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84175" marR="0" lvl="0" indent="-384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Sequential Access: Leaf nodes form a bidirectional linked list, turning range scans into sequential I/O and leveraging data prefetching.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84175" marR="0" lvl="0" indent="-384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84175" marR="0" lvl="0" indent="-384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Page-Sized Nodes: Individual nodes are aligned with disk page size (e.g., 4KB), allowing a single I/O to load numerous keys and maximize throughput.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022715" y="0"/>
            <a:ext cx="3112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base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B+ Tree and Datebase System</a:t>
            </a:r>
            <a:endParaRPr lang="en-US" altLang="zh-CN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1249680" y="1358265"/>
          <a:ext cx="9111615" cy="5019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7205"/>
                <a:gridCol w="3037205"/>
                <a:gridCol w="3037205"/>
              </a:tblGrid>
              <a:tr h="419735"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Database System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Primary Index Structure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Explanation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214120"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MySQL (InnoDB)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B+ Tree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The absolute core for table data and indexes; a classic implementation of a clustered index.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0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77545"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PostgreSQL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B+ Tree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The default and reliable index type.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0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76910"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Oracle, SQL Server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B+ Tree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The standard choice in enterprise-grade databases.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0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76910"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SQLite (Table Data)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B+ Tree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The table file itself is structured as a B+ tree.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0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77545"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SQLite (Separate Index)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 Tree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rare, classic case of using a B-Tree for standalone indexes.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0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76910"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RocksDB / LevelDB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LSM-Tree (contains B+ Tree)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101917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 fontAlgn="base">
                        <a:lnSpc>
                          <a:spcPct val="10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Uses B+ trees internally within SSTables for indexing.</a:t>
                      </a:r>
                      <a:endParaRPr kumimoji="1" lang="en-US" altLang="zh-CN" sz="1600" b="1" smtClean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01917" marR="0" marT="63817" marB="63817"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13333" name="Text Box 70"/>
          <p:cNvSpPr txBox="1"/>
          <p:nvPr/>
        </p:nvSpPr>
        <p:spPr>
          <a:xfrm>
            <a:off x="468313" y="431800"/>
            <a:ext cx="935038" cy="10064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6000" dirty="0">
                <a:solidFill>
                  <a:schemeClr val="hlink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</a:t>
            </a:r>
            <a:endParaRPr lang="en-US" altLang="zh-CN" sz="6000" dirty="0">
              <a:solidFill>
                <a:schemeClr val="hlink"/>
              </a:solidFill>
              <a:latin typeface="Times New Roman" panose="02020603050405020304" pitchFamily="18" charset="0"/>
              <a:sym typeface="Webdings" panose="05030102010509060703" pitchFamily="18" charset="2"/>
            </a:endParaRPr>
          </a:p>
        </p:txBody>
      </p:sp>
      <p:sp>
        <p:nvSpPr>
          <p:cNvPr id="13332" name="Text Box 69"/>
          <p:cNvSpPr txBox="1"/>
          <p:nvPr/>
        </p:nvSpPr>
        <p:spPr>
          <a:xfrm>
            <a:off x="1403350" y="735330"/>
            <a:ext cx="4537710" cy="39878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The appliaction of B+ Tree in datebase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10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3" grpId="0"/>
      <p:bldP spid="13332" grpId="0"/>
      <p:bldP spid="13333" grpId="1"/>
      <p:bldP spid="1333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8"/>
          <p:cNvGrpSpPr/>
          <p:nvPr/>
        </p:nvGrpSpPr>
        <p:grpSpPr>
          <a:xfrm>
            <a:off x="396240" y="203835"/>
            <a:ext cx="5943600" cy="685800"/>
            <a:chOff x="576" y="1392"/>
            <a:chExt cx="3744" cy="432"/>
          </a:xfrm>
        </p:grpSpPr>
        <p:graphicFrame>
          <p:nvGraphicFramePr>
            <p:cNvPr id="1026" name="Object 6"/>
            <p:cNvGraphicFramePr/>
            <p:nvPr/>
          </p:nvGraphicFramePr>
          <p:xfrm>
            <a:off x="576" y="1392"/>
            <a:ext cx="43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2286635" imgH="2286635" progId="MS_ClipArt_Gallery.2">
                    <p:embed/>
                  </p:oleObj>
                </mc:Choice>
                <mc:Fallback>
                  <p:oleObj name="" r:id="rId1" imgW="2286635" imgH="2286635" progId="MS_ClipArt_Gallery.2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76" y="1392"/>
                          <a:ext cx="432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" name="Text Box 7"/>
            <p:cNvSpPr txBox="1"/>
            <p:nvPr/>
          </p:nvSpPr>
          <p:spPr>
            <a:xfrm>
              <a:off x="1056" y="1440"/>
              <a:ext cx="326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1244600" indent="-1244600">
                <a:spcBef>
                  <a:spcPct val="50000"/>
                </a:spcBef>
              </a:pPr>
              <a:r>
                <a:rPr lang="en-US" altLang="zh-CN" sz="2800" dirty="0">
                  <a:latin typeface="Impact" panose="020B0806030902050204" pitchFamily="34" charset="0"/>
                </a:rPr>
                <a:t>Target :</a:t>
              </a:r>
              <a:r>
                <a:rPr lang="en-US" altLang="zh-CN" b="1" dirty="0">
                  <a:latin typeface="Times New Roman" panose="02020603050405020304" pitchFamily="18" charset="0"/>
                </a:rPr>
                <a:t>  B Tree VS B+ Tree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715760" y="1893570"/>
            <a:ext cx="5073015" cy="4121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85775" indent="-485775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【Definition】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A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B+ tree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 of order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M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 is a tree with the following structural properties: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(1)  The root is either a leaf or has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between 2 and M children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.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(2)  All nonleaf nodes (except the root) have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between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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M/2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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and M children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.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(3)  All leaves are at the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same depth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.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Assume each nonroot leaf also has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between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M/2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and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29029" name="Text Box 5"/>
          <p:cNvSpPr txBox="1"/>
          <p:nvPr/>
        </p:nvSpPr>
        <p:spPr>
          <a:xfrm>
            <a:off x="8231823" y="1076325"/>
            <a:ext cx="1728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B+ Trees</a:t>
            </a:r>
            <a:endParaRPr lang="en-US" altLang="zh-CN" sz="2800" b="1" dirty="0">
              <a:latin typeface="Times New Roman" panose="02020603050405020304" pitchFamily="18" charset="0"/>
              <a:sym typeface="Webdings" panose="05030102010509060703" pitchFamily="18" charset="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671003" y="1076325"/>
            <a:ext cx="1728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B Trees</a:t>
            </a:r>
            <a:endParaRPr lang="en-US" altLang="zh-CN" sz="2800" b="1" dirty="0">
              <a:latin typeface="Times New Roman" panose="02020603050405020304" pitchFamily="18" charset="0"/>
              <a:sym typeface="Webdings" panose="05030102010509060703" pitchFamily="18" charset="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6240" y="1871980"/>
            <a:ext cx="5282565" cy="4121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85775" indent="-485775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【Definition】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A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B tree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 of order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M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 is a tree with the following structural properties: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(1)  The root is either a leaf or has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between 2 and M children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.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(2)  All nonleaf nodes (except the root) have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between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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M/2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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 and M children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.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(3)  All leaves are at the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same depth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.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485775" indent="-485775"/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(4) Nonleaf nodes with k children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contain k−1 keys</a:t>
            </a: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, and keys in a node are arranged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in sorted order to guide subtree searches. 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22715" y="0"/>
            <a:ext cx="3112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base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B+ Tree and Datebase System</a:t>
            </a:r>
            <a:endParaRPr lang="en-US" altLang="zh-CN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/>
      <p:bldP spid="6" grpId="0"/>
      <p:bldP spid="8" grpId="0"/>
      <p:bldP spid="8" grpId="1"/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" name="Group 138"/>
          <p:cNvGrpSpPr/>
          <p:nvPr/>
        </p:nvGrpSpPr>
        <p:grpSpPr>
          <a:xfrm>
            <a:off x="320040" y="314783"/>
            <a:ext cx="11415611" cy="933955"/>
            <a:chOff x="720" y="3143"/>
            <a:chExt cx="6300" cy="610"/>
          </a:xfrm>
        </p:grpSpPr>
        <p:grpSp>
          <p:nvGrpSpPr>
            <p:cNvPr id="21518" name="Group 139"/>
            <p:cNvGrpSpPr/>
            <p:nvPr/>
          </p:nvGrpSpPr>
          <p:grpSpPr>
            <a:xfrm>
              <a:off x="720" y="3168"/>
              <a:ext cx="427" cy="585"/>
              <a:chOff x="1939" y="1486"/>
              <a:chExt cx="427" cy="585"/>
            </a:xfrm>
          </p:grpSpPr>
          <p:grpSp>
            <p:nvGrpSpPr>
              <p:cNvPr id="21520" name="Group 140"/>
              <p:cNvGrpSpPr/>
              <p:nvPr/>
            </p:nvGrpSpPr>
            <p:grpSpPr>
              <a:xfrm>
                <a:off x="1939" y="1734"/>
                <a:ext cx="417" cy="107"/>
                <a:chOff x="2661" y="979"/>
                <a:chExt cx="417" cy="107"/>
              </a:xfrm>
            </p:grpSpPr>
            <p:sp>
              <p:nvSpPr>
                <p:cNvPr id="21543" name="Freeform 141"/>
                <p:cNvSpPr/>
                <p:nvPr/>
              </p:nvSpPr>
              <p:spPr>
                <a:xfrm>
                  <a:off x="3041" y="979"/>
                  <a:ext cx="37" cy="107"/>
                </a:xfrm>
                <a:custGeom>
                  <a:avLst/>
                  <a:gdLst>
                    <a:gd name="txL" fmla="*/ 0 w 37"/>
                    <a:gd name="txT" fmla="*/ 0 h 107"/>
                    <a:gd name="txR" fmla="*/ 37 w 37"/>
                    <a:gd name="txB" fmla="*/ 107 h 107"/>
                  </a:gdLst>
                  <a:ahLst/>
                  <a:cxnLst>
                    <a:cxn ang="0">
                      <a:pos x="1" y="7"/>
                    </a:cxn>
                    <a:cxn ang="0">
                      <a:pos x="15" y="1"/>
                    </a:cxn>
                    <a:cxn ang="0">
                      <a:pos x="22" y="0"/>
                    </a:cxn>
                    <a:cxn ang="0">
                      <a:pos x="27" y="0"/>
                    </a:cxn>
                    <a:cxn ang="0">
                      <a:pos x="30" y="1"/>
                    </a:cxn>
                    <a:cxn ang="0">
                      <a:pos x="33" y="3"/>
                    </a:cxn>
                    <a:cxn ang="0">
                      <a:pos x="36" y="9"/>
                    </a:cxn>
                    <a:cxn ang="0">
                      <a:pos x="37" y="15"/>
                    </a:cxn>
                    <a:cxn ang="0">
                      <a:pos x="36" y="23"/>
                    </a:cxn>
                    <a:cxn ang="0">
                      <a:pos x="35" y="29"/>
                    </a:cxn>
                    <a:cxn ang="0">
                      <a:pos x="31" y="36"/>
                    </a:cxn>
                    <a:cxn ang="0">
                      <a:pos x="28" y="41"/>
                    </a:cxn>
                    <a:cxn ang="0">
                      <a:pos x="24" y="46"/>
                    </a:cxn>
                    <a:cxn ang="0">
                      <a:pos x="22" y="53"/>
                    </a:cxn>
                    <a:cxn ang="0">
                      <a:pos x="22" y="58"/>
                    </a:cxn>
                    <a:cxn ang="0">
                      <a:pos x="22" y="68"/>
                    </a:cxn>
                    <a:cxn ang="0">
                      <a:pos x="22" y="76"/>
                    </a:cxn>
                    <a:cxn ang="0">
                      <a:pos x="23" y="83"/>
                    </a:cxn>
                    <a:cxn ang="0">
                      <a:pos x="22" y="89"/>
                    </a:cxn>
                    <a:cxn ang="0">
                      <a:pos x="19" y="96"/>
                    </a:cxn>
                    <a:cxn ang="0">
                      <a:pos x="15" y="100"/>
                    </a:cxn>
                    <a:cxn ang="0">
                      <a:pos x="9" y="104"/>
                    </a:cxn>
                    <a:cxn ang="0">
                      <a:pos x="0" y="107"/>
                    </a:cxn>
                    <a:cxn ang="0">
                      <a:pos x="1" y="7"/>
                    </a:cxn>
                  </a:cxnLst>
                  <a:rect l="txL" t="txT" r="txR" b="txB"/>
                  <a:pathLst>
                    <a:path w="37" h="107">
                      <a:moveTo>
                        <a:pt x="1" y="7"/>
                      </a:moveTo>
                      <a:lnTo>
                        <a:pt x="15" y="1"/>
                      </a:lnTo>
                      <a:lnTo>
                        <a:pt x="22" y="0"/>
                      </a:lnTo>
                      <a:lnTo>
                        <a:pt x="27" y="0"/>
                      </a:lnTo>
                      <a:lnTo>
                        <a:pt x="30" y="1"/>
                      </a:lnTo>
                      <a:lnTo>
                        <a:pt x="33" y="3"/>
                      </a:lnTo>
                      <a:lnTo>
                        <a:pt x="36" y="9"/>
                      </a:lnTo>
                      <a:lnTo>
                        <a:pt x="37" y="15"/>
                      </a:lnTo>
                      <a:lnTo>
                        <a:pt x="36" y="23"/>
                      </a:lnTo>
                      <a:lnTo>
                        <a:pt x="35" y="29"/>
                      </a:lnTo>
                      <a:lnTo>
                        <a:pt x="31" y="36"/>
                      </a:lnTo>
                      <a:lnTo>
                        <a:pt x="28" y="41"/>
                      </a:lnTo>
                      <a:lnTo>
                        <a:pt x="24" y="46"/>
                      </a:lnTo>
                      <a:lnTo>
                        <a:pt x="22" y="53"/>
                      </a:lnTo>
                      <a:lnTo>
                        <a:pt x="22" y="58"/>
                      </a:lnTo>
                      <a:lnTo>
                        <a:pt x="22" y="68"/>
                      </a:lnTo>
                      <a:lnTo>
                        <a:pt x="22" y="76"/>
                      </a:lnTo>
                      <a:lnTo>
                        <a:pt x="23" y="83"/>
                      </a:lnTo>
                      <a:lnTo>
                        <a:pt x="22" y="89"/>
                      </a:lnTo>
                      <a:lnTo>
                        <a:pt x="19" y="96"/>
                      </a:lnTo>
                      <a:lnTo>
                        <a:pt x="15" y="100"/>
                      </a:lnTo>
                      <a:lnTo>
                        <a:pt x="9" y="104"/>
                      </a:lnTo>
                      <a:lnTo>
                        <a:pt x="0" y="107"/>
                      </a:ln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44" name="Freeform 142"/>
                <p:cNvSpPr/>
                <p:nvPr/>
              </p:nvSpPr>
              <p:spPr>
                <a:xfrm>
                  <a:off x="2661" y="979"/>
                  <a:ext cx="36" cy="107"/>
                </a:xfrm>
                <a:custGeom>
                  <a:avLst/>
                  <a:gdLst>
                    <a:gd name="txL" fmla="*/ 0 w 36"/>
                    <a:gd name="txT" fmla="*/ 0 h 107"/>
                    <a:gd name="txR" fmla="*/ 36 w 36"/>
                    <a:gd name="txB" fmla="*/ 107 h 107"/>
                  </a:gdLst>
                  <a:ahLst/>
                  <a:cxnLst>
                    <a:cxn ang="0">
                      <a:pos x="36" y="7"/>
                    </a:cxn>
                    <a:cxn ang="0">
                      <a:pos x="21" y="1"/>
                    </a:cxn>
                    <a:cxn ang="0">
                      <a:pos x="15" y="0"/>
                    </a:cxn>
                    <a:cxn ang="0">
                      <a:pos x="9" y="0"/>
                    </a:cxn>
                    <a:cxn ang="0">
                      <a:pos x="6" y="1"/>
                    </a:cxn>
                    <a:cxn ang="0">
                      <a:pos x="3" y="3"/>
                    </a:cxn>
                    <a:cxn ang="0">
                      <a:pos x="1" y="9"/>
                    </a:cxn>
                    <a:cxn ang="0">
                      <a:pos x="0" y="15"/>
                    </a:cxn>
                    <a:cxn ang="0">
                      <a:pos x="0" y="23"/>
                    </a:cxn>
                    <a:cxn ang="0">
                      <a:pos x="1" y="29"/>
                    </a:cxn>
                    <a:cxn ang="0">
                      <a:pos x="5" y="36"/>
                    </a:cxn>
                    <a:cxn ang="0">
                      <a:pos x="9" y="41"/>
                    </a:cxn>
                    <a:cxn ang="0">
                      <a:pos x="12" y="46"/>
                    </a:cxn>
                    <a:cxn ang="0">
                      <a:pos x="14" y="53"/>
                    </a:cxn>
                    <a:cxn ang="0">
                      <a:pos x="15" y="58"/>
                    </a:cxn>
                    <a:cxn ang="0">
                      <a:pos x="14" y="68"/>
                    </a:cxn>
                    <a:cxn ang="0">
                      <a:pos x="14" y="76"/>
                    </a:cxn>
                    <a:cxn ang="0">
                      <a:pos x="13" y="83"/>
                    </a:cxn>
                    <a:cxn ang="0">
                      <a:pos x="14" y="89"/>
                    </a:cxn>
                    <a:cxn ang="0">
                      <a:pos x="17" y="96"/>
                    </a:cxn>
                    <a:cxn ang="0">
                      <a:pos x="21" y="100"/>
                    </a:cxn>
                    <a:cxn ang="0">
                      <a:pos x="27" y="104"/>
                    </a:cxn>
                    <a:cxn ang="0">
                      <a:pos x="36" y="107"/>
                    </a:cxn>
                    <a:cxn ang="0">
                      <a:pos x="36" y="7"/>
                    </a:cxn>
                  </a:cxnLst>
                  <a:rect l="txL" t="txT" r="txR" b="txB"/>
                  <a:pathLst>
                    <a:path w="36" h="107">
                      <a:moveTo>
                        <a:pt x="36" y="7"/>
                      </a:moveTo>
                      <a:lnTo>
                        <a:pt x="21" y="1"/>
                      </a:lnTo>
                      <a:lnTo>
                        <a:pt x="15" y="0"/>
                      </a:lnTo>
                      <a:lnTo>
                        <a:pt x="9" y="0"/>
                      </a:lnTo>
                      <a:lnTo>
                        <a:pt x="6" y="1"/>
                      </a:lnTo>
                      <a:lnTo>
                        <a:pt x="3" y="3"/>
                      </a:lnTo>
                      <a:lnTo>
                        <a:pt x="1" y="9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" y="29"/>
                      </a:lnTo>
                      <a:lnTo>
                        <a:pt x="5" y="36"/>
                      </a:lnTo>
                      <a:lnTo>
                        <a:pt x="9" y="41"/>
                      </a:lnTo>
                      <a:lnTo>
                        <a:pt x="12" y="46"/>
                      </a:lnTo>
                      <a:lnTo>
                        <a:pt x="14" y="53"/>
                      </a:lnTo>
                      <a:lnTo>
                        <a:pt x="15" y="58"/>
                      </a:lnTo>
                      <a:lnTo>
                        <a:pt x="14" y="68"/>
                      </a:lnTo>
                      <a:lnTo>
                        <a:pt x="14" y="76"/>
                      </a:lnTo>
                      <a:lnTo>
                        <a:pt x="13" y="83"/>
                      </a:lnTo>
                      <a:lnTo>
                        <a:pt x="14" y="89"/>
                      </a:lnTo>
                      <a:lnTo>
                        <a:pt x="17" y="96"/>
                      </a:lnTo>
                      <a:lnTo>
                        <a:pt x="21" y="100"/>
                      </a:lnTo>
                      <a:lnTo>
                        <a:pt x="27" y="104"/>
                      </a:lnTo>
                      <a:lnTo>
                        <a:pt x="36" y="107"/>
                      </a:lnTo>
                      <a:lnTo>
                        <a:pt x="36" y="7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521" name="Freeform 143"/>
              <p:cNvSpPr/>
              <p:nvPr/>
            </p:nvSpPr>
            <p:spPr>
              <a:xfrm>
                <a:off x="1968" y="1536"/>
                <a:ext cx="364" cy="535"/>
              </a:xfrm>
              <a:custGeom>
                <a:avLst/>
                <a:gdLst>
                  <a:gd name="txL" fmla="*/ 0 w 364"/>
                  <a:gd name="txT" fmla="*/ 0 h 535"/>
                  <a:gd name="txR" fmla="*/ 364 w 364"/>
                  <a:gd name="txB" fmla="*/ 535 h 535"/>
                </a:gdLst>
                <a:ahLst/>
                <a:cxnLst>
                  <a:cxn ang="0">
                    <a:pos x="24" y="109"/>
                  </a:cxn>
                  <a:cxn ang="0">
                    <a:pos x="9" y="156"/>
                  </a:cxn>
                  <a:cxn ang="0">
                    <a:pos x="2" y="217"/>
                  </a:cxn>
                  <a:cxn ang="0">
                    <a:pos x="0" y="275"/>
                  </a:cxn>
                  <a:cxn ang="0">
                    <a:pos x="2" y="340"/>
                  </a:cxn>
                  <a:cxn ang="0">
                    <a:pos x="11" y="390"/>
                  </a:cxn>
                  <a:cxn ang="0">
                    <a:pos x="32" y="435"/>
                  </a:cxn>
                  <a:cxn ang="0">
                    <a:pos x="60" y="472"/>
                  </a:cxn>
                  <a:cxn ang="0">
                    <a:pos x="99" y="506"/>
                  </a:cxn>
                  <a:cxn ang="0">
                    <a:pos x="141" y="526"/>
                  </a:cxn>
                  <a:cxn ang="0">
                    <a:pos x="164" y="534"/>
                  </a:cxn>
                  <a:cxn ang="0">
                    <a:pos x="191" y="534"/>
                  </a:cxn>
                  <a:cxn ang="0">
                    <a:pos x="223" y="527"/>
                  </a:cxn>
                  <a:cxn ang="0">
                    <a:pos x="252" y="514"/>
                  </a:cxn>
                  <a:cxn ang="0">
                    <a:pos x="280" y="494"/>
                  </a:cxn>
                  <a:cxn ang="0">
                    <a:pos x="304" y="470"/>
                  </a:cxn>
                  <a:cxn ang="0">
                    <a:pos x="326" y="443"/>
                  </a:cxn>
                  <a:cxn ang="0">
                    <a:pos x="342" y="418"/>
                  </a:cxn>
                  <a:cxn ang="0">
                    <a:pos x="350" y="398"/>
                  </a:cxn>
                  <a:cxn ang="0">
                    <a:pos x="358" y="367"/>
                  </a:cxn>
                  <a:cxn ang="0">
                    <a:pos x="363" y="327"/>
                  </a:cxn>
                  <a:cxn ang="0">
                    <a:pos x="364" y="287"/>
                  </a:cxn>
                  <a:cxn ang="0">
                    <a:pos x="362" y="238"/>
                  </a:cxn>
                  <a:cxn ang="0">
                    <a:pos x="359" y="195"/>
                  </a:cxn>
                  <a:cxn ang="0">
                    <a:pos x="355" y="159"/>
                  </a:cxn>
                  <a:cxn ang="0">
                    <a:pos x="347" y="128"/>
                  </a:cxn>
                  <a:cxn ang="0">
                    <a:pos x="337" y="105"/>
                  </a:cxn>
                  <a:cxn ang="0">
                    <a:pos x="323" y="80"/>
                  </a:cxn>
                  <a:cxn ang="0">
                    <a:pos x="308" y="61"/>
                  </a:cxn>
                  <a:cxn ang="0">
                    <a:pos x="289" y="43"/>
                  </a:cxn>
                  <a:cxn ang="0">
                    <a:pos x="266" y="27"/>
                  </a:cxn>
                  <a:cxn ang="0">
                    <a:pos x="237" y="12"/>
                  </a:cxn>
                  <a:cxn ang="0">
                    <a:pos x="201" y="3"/>
                  </a:cxn>
                  <a:cxn ang="0">
                    <a:pos x="155" y="3"/>
                  </a:cxn>
                  <a:cxn ang="0">
                    <a:pos x="108" y="20"/>
                  </a:cxn>
                  <a:cxn ang="0">
                    <a:pos x="69" y="46"/>
                  </a:cxn>
                  <a:cxn ang="0">
                    <a:pos x="36" y="86"/>
                  </a:cxn>
                </a:cxnLst>
                <a:rect l="txL" t="txT" r="txR" b="txB"/>
                <a:pathLst>
                  <a:path w="364" h="535">
                    <a:moveTo>
                      <a:pt x="36" y="86"/>
                    </a:moveTo>
                    <a:lnTo>
                      <a:pt x="24" y="109"/>
                    </a:lnTo>
                    <a:lnTo>
                      <a:pt x="15" y="133"/>
                    </a:lnTo>
                    <a:lnTo>
                      <a:pt x="9" y="156"/>
                    </a:lnTo>
                    <a:lnTo>
                      <a:pt x="5" y="185"/>
                    </a:lnTo>
                    <a:lnTo>
                      <a:pt x="2" y="217"/>
                    </a:lnTo>
                    <a:lnTo>
                      <a:pt x="1" y="246"/>
                    </a:lnTo>
                    <a:lnTo>
                      <a:pt x="0" y="275"/>
                    </a:lnTo>
                    <a:lnTo>
                      <a:pt x="0" y="311"/>
                    </a:lnTo>
                    <a:lnTo>
                      <a:pt x="2" y="340"/>
                    </a:lnTo>
                    <a:lnTo>
                      <a:pt x="6" y="369"/>
                    </a:lnTo>
                    <a:lnTo>
                      <a:pt x="11" y="390"/>
                    </a:lnTo>
                    <a:lnTo>
                      <a:pt x="20" y="415"/>
                    </a:lnTo>
                    <a:lnTo>
                      <a:pt x="32" y="435"/>
                    </a:lnTo>
                    <a:lnTo>
                      <a:pt x="43" y="452"/>
                    </a:lnTo>
                    <a:lnTo>
                      <a:pt x="60" y="472"/>
                    </a:lnTo>
                    <a:lnTo>
                      <a:pt x="78" y="489"/>
                    </a:lnTo>
                    <a:lnTo>
                      <a:pt x="99" y="506"/>
                    </a:lnTo>
                    <a:lnTo>
                      <a:pt x="120" y="517"/>
                    </a:lnTo>
                    <a:lnTo>
                      <a:pt x="141" y="526"/>
                    </a:lnTo>
                    <a:lnTo>
                      <a:pt x="151" y="530"/>
                    </a:lnTo>
                    <a:lnTo>
                      <a:pt x="164" y="534"/>
                    </a:lnTo>
                    <a:lnTo>
                      <a:pt x="181" y="535"/>
                    </a:lnTo>
                    <a:lnTo>
                      <a:pt x="191" y="534"/>
                    </a:lnTo>
                    <a:lnTo>
                      <a:pt x="206" y="532"/>
                    </a:lnTo>
                    <a:lnTo>
                      <a:pt x="223" y="527"/>
                    </a:lnTo>
                    <a:lnTo>
                      <a:pt x="237" y="522"/>
                    </a:lnTo>
                    <a:lnTo>
                      <a:pt x="252" y="514"/>
                    </a:lnTo>
                    <a:lnTo>
                      <a:pt x="267" y="504"/>
                    </a:lnTo>
                    <a:lnTo>
                      <a:pt x="280" y="494"/>
                    </a:lnTo>
                    <a:lnTo>
                      <a:pt x="293" y="482"/>
                    </a:lnTo>
                    <a:lnTo>
                      <a:pt x="304" y="470"/>
                    </a:lnTo>
                    <a:lnTo>
                      <a:pt x="313" y="458"/>
                    </a:lnTo>
                    <a:lnTo>
                      <a:pt x="326" y="443"/>
                    </a:lnTo>
                    <a:lnTo>
                      <a:pt x="334" y="431"/>
                    </a:lnTo>
                    <a:lnTo>
                      <a:pt x="342" y="418"/>
                    </a:lnTo>
                    <a:lnTo>
                      <a:pt x="346" y="408"/>
                    </a:lnTo>
                    <a:lnTo>
                      <a:pt x="350" y="398"/>
                    </a:lnTo>
                    <a:lnTo>
                      <a:pt x="354" y="384"/>
                    </a:lnTo>
                    <a:lnTo>
                      <a:pt x="358" y="367"/>
                    </a:lnTo>
                    <a:lnTo>
                      <a:pt x="361" y="345"/>
                    </a:lnTo>
                    <a:lnTo>
                      <a:pt x="363" y="327"/>
                    </a:lnTo>
                    <a:lnTo>
                      <a:pt x="364" y="307"/>
                    </a:lnTo>
                    <a:lnTo>
                      <a:pt x="364" y="287"/>
                    </a:lnTo>
                    <a:lnTo>
                      <a:pt x="363" y="259"/>
                    </a:lnTo>
                    <a:lnTo>
                      <a:pt x="362" y="238"/>
                    </a:lnTo>
                    <a:lnTo>
                      <a:pt x="360" y="218"/>
                    </a:lnTo>
                    <a:lnTo>
                      <a:pt x="359" y="195"/>
                    </a:lnTo>
                    <a:lnTo>
                      <a:pt x="358" y="178"/>
                    </a:lnTo>
                    <a:lnTo>
                      <a:pt x="355" y="159"/>
                    </a:lnTo>
                    <a:lnTo>
                      <a:pt x="352" y="144"/>
                    </a:lnTo>
                    <a:lnTo>
                      <a:pt x="347" y="128"/>
                    </a:lnTo>
                    <a:lnTo>
                      <a:pt x="342" y="115"/>
                    </a:lnTo>
                    <a:lnTo>
                      <a:pt x="337" y="105"/>
                    </a:lnTo>
                    <a:lnTo>
                      <a:pt x="332" y="96"/>
                    </a:lnTo>
                    <a:lnTo>
                      <a:pt x="323" y="80"/>
                    </a:lnTo>
                    <a:lnTo>
                      <a:pt x="316" y="70"/>
                    </a:lnTo>
                    <a:lnTo>
                      <a:pt x="308" y="61"/>
                    </a:lnTo>
                    <a:lnTo>
                      <a:pt x="298" y="51"/>
                    </a:lnTo>
                    <a:lnTo>
                      <a:pt x="289" y="43"/>
                    </a:lnTo>
                    <a:lnTo>
                      <a:pt x="279" y="35"/>
                    </a:lnTo>
                    <a:lnTo>
                      <a:pt x="266" y="27"/>
                    </a:lnTo>
                    <a:lnTo>
                      <a:pt x="253" y="19"/>
                    </a:lnTo>
                    <a:lnTo>
                      <a:pt x="237" y="12"/>
                    </a:lnTo>
                    <a:lnTo>
                      <a:pt x="220" y="7"/>
                    </a:lnTo>
                    <a:lnTo>
                      <a:pt x="201" y="3"/>
                    </a:lnTo>
                    <a:lnTo>
                      <a:pt x="182" y="0"/>
                    </a:lnTo>
                    <a:lnTo>
                      <a:pt x="155" y="3"/>
                    </a:lnTo>
                    <a:lnTo>
                      <a:pt x="132" y="10"/>
                    </a:lnTo>
                    <a:lnTo>
                      <a:pt x="108" y="20"/>
                    </a:lnTo>
                    <a:lnTo>
                      <a:pt x="88" y="32"/>
                    </a:lnTo>
                    <a:lnTo>
                      <a:pt x="69" y="46"/>
                    </a:lnTo>
                    <a:lnTo>
                      <a:pt x="51" y="65"/>
                    </a:lnTo>
                    <a:lnTo>
                      <a:pt x="36" y="86"/>
                    </a:lnTo>
                    <a:close/>
                  </a:path>
                </a:pathLst>
              </a:custGeom>
              <a:solidFill>
                <a:srgbClr val="FFCC99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2" name="Freeform 144"/>
              <p:cNvSpPr/>
              <p:nvPr/>
            </p:nvSpPr>
            <p:spPr>
              <a:xfrm>
                <a:off x="2076" y="1940"/>
                <a:ext cx="148" cy="32"/>
              </a:xfrm>
              <a:custGeom>
                <a:avLst/>
                <a:gdLst>
                  <a:gd name="txL" fmla="*/ 0 w 148"/>
                  <a:gd name="txT" fmla="*/ 0 h 32"/>
                  <a:gd name="txR" fmla="*/ 148 w 148"/>
                  <a:gd name="txB" fmla="*/ 32 h 32"/>
                </a:gdLst>
                <a:ahLst/>
                <a:cxnLst>
                  <a:cxn ang="0">
                    <a:pos x="0" y="22"/>
                  </a:cxn>
                  <a:cxn ang="0">
                    <a:pos x="5" y="18"/>
                  </a:cxn>
                  <a:cxn ang="0">
                    <a:pos x="12" y="12"/>
                  </a:cxn>
                  <a:cxn ang="0">
                    <a:pos x="25" y="6"/>
                  </a:cxn>
                  <a:cxn ang="0">
                    <a:pos x="40" y="2"/>
                  </a:cxn>
                  <a:cxn ang="0">
                    <a:pos x="55" y="0"/>
                  </a:cxn>
                  <a:cxn ang="0">
                    <a:pos x="68" y="0"/>
                  </a:cxn>
                  <a:cxn ang="0">
                    <a:pos x="77" y="1"/>
                  </a:cxn>
                  <a:cxn ang="0">
                    <a:pos x="84" y="0"/>
                  </a:cxn>
                  <a:cxn ang="0">
                    <a:pos x="91" y="0"/>
                  </a:cxn>
                  <a:cxn ang="0">
                    <a:pos x="100" y="1"/>
                  </a:cxn>
                  <a:cxn ang="0">
                    <a:pos x="111" y="3"/>
                  </a:cxn>
                  <a:cxn ang="0">
                    <a:pos x="121" y="6"/>
                  </a:cxn>
                  <a:cxn ang="0">
                    <a:pos x="133" y="10"/>
                  </a:cxn>
                  <a:cxn ang="0">
                    <a:pos x="139" y="14"/>
                  </a:cxn>
                  <a:cxn ang="0">
                    <a:pos x="144" y="18"/>
                  </a:cxn>
                  <a:cxn ang="0">
                    <a:pos x="148" y="24"/>
                  </a:cxn>
                  <a:cxn ang="0">
                    <a:pos x="147" y="26"/>
                  </a:cxn>
                  <a:cxn ang="0">
                    <a:pos x="133" y="30"/>
                  </a:cxn>
                  <a:cxn ang="0">
                    <a:pos x="109" y="32"/>
                  </a:cxn>
                  <a:cxn ang="0">
                    <a:pos x="86" y="32"/>
                  </a:cxn>
                  <a:cxn ang="0">
                    <a:pos x="62" y="32"/>
                  </a:cxn>
                  <a:cxn ang="0">
                    <a:pos x="30" y="30"/>
                  </a:cxn>
                  <a:cxn ang="0">
                    <a:pos x="9" y="28"/>
                  </a:cxn>
                  <a:cxn ang="0">
                    <a:pos x="3" y="26"/>
                  </a:cxn>
                  <a:cxn ang="0">
                    <a:pos x="0" y="22"/>
                  </a:cxn>
                </a:cxnLst>
                <a:rect l="txL" t="txT" r="txR" b="txB"/>
                <a:pathLst>
                  <a:path w="148" h="32">
                    <a:moveTo>
                      <a:pt x="0" y="22"/>
                    </a:moveTo>
                    <a:lnTo>
                      <a:pt x="5" y="18"/>
                    </a:lnTo>
                    <a:lnTo>
                      <a:pt x="12" y="12"/>
                    </a:lnTo>
                    <a:lnTo>
                      <a:pt x="25" y="6"/>
                    </a:lnTo>
                    <a:lnTo>
                      <a:pt x="40" y="2"/>
                    </a:lnTo>
                    <a:lnTo>
                      <a:pt x="55" y="0"/>
                    </a:lnTo>
                    <a:lnTo>
                      <a:pt x="68" y="0"/>
                    </a:lnTo>
                    <a:lnTo>
                      <a:pt x="77" y="1"/>
                    </a:lnTo>
                    <a:lnTo>
                      <a:pt x="84" y="0"/>
                    </a:lnTo>
                    <a:lnTo>
                      <a:pt x="91" y="0"/>
                    </a:lnTo>
                    <a:lnTo>
                      <a:pt x="100" y="1"/>
                    </a:lnTo>
                    <a:lnTo>
                      <a:pt x="111" y="3"/>
                    </a:lnTo>
                    <a:lnTo>
                      <a:pt x="121" y="6"/>
                    </a:lnTo>
                    <a:lnTo>
                      <a:pt x="133" y="10"/>
                    </a:lnTo>
                    <a:lnTo>
                      <a:pt x="139" y="14"/>
                    </a:lnTo>
                    <a:lnTo>
                      <a:pt x="144" y="18"/>
                    </a:lnTo>
                    <a:lnTo>
                      <a:pt x="148" y="24"/>
                    </a:lnTo>
                    <a:lnTo>
                      <a:pt x="147" y="26"/>
                    </a:lnTo>
                    <a:lnTo>
                      <a:pt x="133" y="30"/>
                    </a:lnTo>
                    <a:lnTo>
                      <a:pt x="109" y="32"/>
                    </a:lnTo>
                    <a:lnTo>
                      <a:pt x="86" y="32"/>
                    </a:lnTo>
                    <a:lnTo>
                      <a:pt x="62" y="32"/>
                    </a:lnTo>
                    <a:lnTo>
                      <a:pt x="30" y="30"/>
                    </a:lnTo>
                    <a:lnTo>
                      <a:pt x="9" y="28"/>
                    </a:lnTo>
                    <a:lnTo>
                      <a:pt x="3" y="26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FE0C0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3" name="Freeform 145"/>
              <p:cNvSpPr/>
              <p:nvPr/>
            </p:nvSpPr>
            <p:spPr>
              <a:xfrm>
                <a:off x="1945" y="1486"/>
                <a:ext cx="421" cy="288"/>
              </a:xfrm>
              <a:custGeom>
                <a:avLst/>
                <a:gdLst>
                  <a:gd name="txL" fmla="*/ 0 w 421"/>
                  <a:gd name="txT" fmla="*/ 0 h 288"/>
                  <a:gd name="txR" fmla="*/ 421 w 421"/>
                  <a:gd name="txB" fmla="*/ 288 h 288"/>
                </a:gdLst>
                <a:ahLst/>
                <a:cxnLst>
                  <a:cxn ang="0">
                    <a:pos x="13" y="274"/>
                  </a:cxn>
                  <a:cxn ang="0">
                    <a:pos x="11" y="253"/>
                  </a:cxn>
                  <a:cxn ang="0">
                    <a:pos x="15" y="238"/>
                  </a:cxn>
                  <a:cxn ang="0">
                    <a:pos x="12" y="218"/>
                  </a:cxn>
                  <a:cxn ang="0">
                    <a:pos x="11" y="202"/>
                  </a:cxn>
                  <a:cxn ang="0">
                    <a:pos x="10" y="191"/>
                  </a:cxn>
                  <a:cxn ang="0">
                    <a:pos x="19" y="181"/>
                  </a:cxn>
                  <a:cxn ang="0">
                    <a:pos x="12" y="154"/>
                  </a:cxn>
                  <a:cxn ang="0">
                    <a:pos x="21" y="150"/>
                  </a:cxn>
                  <a:cxn ang="0">
                    <a:pos x="32" y="142"/>
                  </a:cxn>
                  <a:cxn ang="0">
                    <a:pos x="30" y="127"/>
                  </a:cxn>
                  <a:cxn ang="0">
                    <a:pos x="39" y="120"/>
                  </a:cxn>
                  <a:cxn ang="0">
                    <a:pos x="36" y="101"/>
                  </a:cxn>
                  <a:cxn ang="0">
                    <a:pos x="38" y="89"/>
                  </a:cxn>
                  <a:cxn ang="0">
                    <a:pos x="47" y="70"/>
                  </a:cxn>
                  <a:cxn ang="0">
                    <a:pos x="52" y="55"/>
                  </a:cxn>
                  <a:cxn ang="0">
                    <a:pos x="73" y="63"/>
                  </a:cxn>
                  <a:cxn ang="0">
                    <a:pos x="80" y="37"/>
                  </a:cxn>
                  <a:cxn ang="0">
                    <a:pos x="93" y="52"/>
                  </a:cxn>
                  <a:cxn ang="0">
                    <a:pos x="111" y="31"/>
                  </a:cxn>
                  <a:cxn ang="0">
                    <a:pos x="141" y="14"/>
                  </a:cxn>
                  <a:cxn ang="0">
                    <a:pos x="195" y="2"/>
                  </a:cxn>
                  <a:cxn ang="0">
                    <a:pos x="233" y="0"/>
                  </a:cxn>
                  <a:cxn ang="0">
                    <a:pos x="245" y="11"/>
                  </a:cxn>
                  <a:cxn ang="0">
                    <a:pos x="265" y="18"/>
                  </a:cxn>
                  <a:cxn ang="0">
                    <a:pos x="297" y="14"/>
                  </a:cxn>
                  <a:cxn ang="0">
                    <a:pos x="294" y="26"/>
                  </a:cxn>
                  <a:cxn ang="0">
                    <a:pos x="323" y="27"/>
                  </a:cxn>
                  <a:cxn ang="0">
                    <a:pos x="321" y="37"/>
                  </a:cxn>
                  <a:cxn ang="0">
                    <a:pos x="338" y="44"/>
                  </a:cxn>
                  <a:cxn ang="0">
                    <a:pos x="367" y="55"/>
                  </a:cxn>
                  <a:cxn ang="0">
                    <a:pos x="366" y="68"/>
                  </a:cxn>
                  <a:cxn ang="0">
                    <a:pos x="367" y="78"/>
                  </a:cxn>
                  <a:cxn ang="0">
                    <a:pos x="395" y="88"/>
                  </a:cxn>
                  <a:cxn ang="0">
                    <a:pos x="395" y="107"/>
                  </a:cxn>
                  <a:cxn ang="0">
                    <a:pos x="404" y="134"/>
                  </a:cxn>
                  <a:cxn ang="0">
                    <a:pos x="400" y="162"/>
                  </a:cxn>
                  <a:cxn ang="0">
                    <a:pos x="400" y="194"/>
                  </a:cxn>
                  <a:cxn ang="0">
                    <a:pos x="400" y="228"/>
                  </a:cxn>
                  <a:cxn ang="0">
                    <a:pos x="381" y="286"/>
                  </a:cxn>
                  <a:cxn ang="0">
                    <a:pos x="345" y="141"/>
                  </a:cxn>
                  <a:cxn ang="0">
                    <a:pos x="277" y="118"/>
                  </a:cxn>
                  <a:cxn ang="0">
                    <a:pos x="194" y="98"/>
                  </a:cxn>
                  <a:cxn ang="0">
                    <a:pos x="111" y="100"/>
                  </a:cxn>
                  <a:cxn ang="0">
                    <a:pos x="89" y="111"/>
                  </a:cxn>
                  <a:cxn ang="0">
                    <a:pos x="67" y="140"/>
                  </a:cxn>
                  <a:cxn ang="0">
                    <a:pos x="53" y="184"/>
                  </a:cxn>
                  <a:cxn ang="0">
                    <a:pos x="36" y="218"/>
                  </a:cxn>
                </a:cxnLst>
                <a:rect l="txL" t="txT" r="txR" b="txB"/>
                <a:pathLst>
                  <a:path w="421" h="288">
                    <a:moveTo>
                      <a:pt x="25" y="288"/>
                    </a:moveTo>
                    <a:lnTo>
                      <a:pt x="21" y="283"/>
                    </a:lnTo>
                    <a:lnTo>
                      <a:pt x="13" y="274"/>
                    </a:lnTo>
                    <a:lnTo>
                      <a:pt x="21" y="270"/>
                    </a:lnTo>
                    <a:lnTo>
                      <a:pt x="16" y="262"/>
                    </a:lnTo>
                    <a:lnTo>
                      <a:pt x="11" y="253"/>
                    </a:lnTo>
                    <a:lnTo>
                      <a:pt x="7" y="247"/>
                    </a:lnTo>
                    <a:lnTo>
                      <a:pt x="18" y="247"/>
                    </a:lnTo>
                    <a:lnTo>
                      <a:pt x="15" y="238"/>
                    </a:lnTo>
                    <a:lnTo>
                      <a:pt x="9" y="228"/>
                    </a:lnTo>
                    <a:lnTo>
                      <a:pt x="0" y="219"/>
                    </a:lnTo>
                    <a:lnTo>
                      <a:pt x="12" y="218"/>
                    </a:lnTo>
                    <a:lnTo>
                      <a:pt x="9" y="210"/>
                    </a:lnTo>
                    <a:lnTo>
                      <a:pt x="4" y="200"/>
                    </a:lnTo>
                    <a:lnTo>
                      <a:pt x="11" y="202"/>
                    </a:lnTo>
                    <a:lnTo>
                      <a:pt x="17" y="204"/>
                    </a:lnTo>
                    <a:lnTo>
                      <a:pt x="15" y="198"/>
                    </a:lnTo>
                    <a:lnTo>
                      <a:pt x="10" y="191"/>
                    </a:lnTo>
                    <a:lnTo>
                      <a:pt x="16" y="191"/>
                    </a:lnTo>
                    <a:lnTo>
                      <a:pt x="13" y="180"/>
                    </a:lnTo>
                    <a:lnTo>
                      <a:pt x="19" y="181"/>
                    </a:lnTo>
                    <a:lnTo>
                      <a:pt x="19" y="173"/>
                    </a:lnTo>
                    <a:lnTo>
                      <a:pt x="17" y="166"/>
                    </a:lnTo>
                    <a:lnTo>
                      <a:pt x="12" y="154"/>
                    </a:lnTo>
                    <a:lnTo>
                      <a:pt x="19" y="156"/>
                    </a:lnTo>
                    <a:lnTo>
                      <a:pt x="26" y="158"/>
                    </a:lnTo>
                    <a:lnTo>
                      <a:pt x="21" y="150"/>
                    </a:lnTo>
                    <a:lnTo>
                      <a:pt x="31" y="151"/>
                    </a:lnTo>
                    <a:lnTo>
                      <a:pt x="39" y="152"/>
                    </a:lnTo>
                    <a:lnTo>
                      <a:pt x="32" y="142"/>
                    </a:lnTo>
                    <a:lnTo>
                      <a:pt x="28" y="136"/>
                    </a:lnTo>
                    <a:lnTo>
                      <a:pt x="22" y="128"/>
                    </a:lnTo>
                    <a:lnTo>
                      <a:pt x="30" y="127"/>
                    </a:lnTo>
                    <a:lnTo>
                      <a:pt x="38" y="127"/>
                    </a:lnTo>
                    <a:lnTo>
                      <a:pt x="45" y="126"/>
                    </a:lnTo>
                    <a:lnTo>
                      <a:pt x="39" y="120"/>
                    </a:lnTo>
                    <a:lnTo>
                      <a:pt x="32" y="114"/>
                    </a:lnTo>
                    <a:lnTo>
                      <a:pt x="40" y="111"/>
                    </a:lnTo>
                    <a:lnTo>
                      <a:pt x="36" y="101"/>
                    </a:lnTo>
                    <a:lnTo>
                      <a:pt x="32" y="94"/>
                    </a:lnTo>
                    <a:lnTo>
                      <a:pt x="29" y="88"/>
                    </a:lnTo>
                    <a:lnTo>
                      <a:pt x="38" y="89"/>
                    </a:lnTo>
                    <a:lnTo>
                      <a:pt x="46" y="91"/>
                    </a:lnTo>
                    <a:lnTo>
                      <a:pt x="48" y="81"/>
                    </a:lnTo>
                    <a:lnTo>
                      <a:pt x="47" y="70"/>
                    </a:lnTo>
                    <a:lnTo>
                      <a:pt x="45" y="60"/>
                    </a:lnTo>
                    <a:lnTo>
                      <a:pt x="38" y="48"/>
                    </a:lnTo>
                    <a:lnTo>
                      <a:pt x="52" y="55"/>
                    </a:lnTo>
                    <a:lnTo>
                      <a:pt x="58" y="58"/>
                    </a:lnTo>
                    <a:lnTo>
                      <a:pt x="65" y="63"/>
                    </a:lnTo>
                    <a:lnTo>
                      <a:pt x="73" y="63"/>
                    </a:lnTo>
                    <a:lnTo>
                      <a:pt x="73" y="55"/>
                    </a:lnTo>
                    <a:lnTo>
                      <a:pt x="75" y="47"/>
                    </a:lnTo>
                    <a:lnTo>
                      <a:pt x="80" y="37"/>
                    </a:lnTo>
                    <a:lnTo>
                      <a:pt x="84" y="44"/>
                    </a:lnTo>
                    <a:lnTo>
                      <a:pt x="87" y="48"/>
                    </a:lnTo>
                    <a:lnTo>
                      <a:pt x="93" y="52"/>
                    </a:lnTo>
                    <a:lnTo>
                      <a:pt x="97" y="45"/>
                    </a:lnTo>
                    <a:lnTo>
                      <a:pt x="102" y="38"/>
                    </a:lnTo>
                    <a:lnTo>
                      <a:pt x="111" y="31"/>
                    </a:lnTo>
                    <a:lnTo>
                      <a:pt x="119" y="23"/>
                    </a:lnTo>
                    <a:lnTo>
                      <a:pt x="129" y="17"/>
                    </a:lnTo>
                    <a:lnTo>
                      <a:pt x="141" y="14"/>
                    </a:lnTo>
                    <a:lnTo>
                      <a:pt x="157" y="11"/>
                    </a:lnTo>
                    <a:lnTo>
                      <a:pt x="180" y="5"/>
                    </a:lnTo>
                    <a:lnTo>
                      <a:pt x="195" y="2"/>
                    </a:lnTo>
                    <a:lnTo>
                      <a:pt x="208" y="1"/>
                    </a:lnTo>
                    <a:lnTo>
                      <a:pt x="218" y="0"/>
                    </a:lnTo>
                    <a:lnTo>
                      <a:pt x="233" y="0"/>
                    </a:lnTo>
                    <a:lnTo>
                      <a:pt x="261" y="1"/>
                    </a:lnTo>
                    <a:lnTo>
                      <a:pt x="251" y="5"/>
                    </a:lnTo>
                    <a:lnTo>
                      <a:pt x="245" y="11"/>
                    </a:lnTo>
                    <a:lnTo>
                      <a:pt x="243" y="14"/>
                    </a:lnTo>
                    <a:lnTo>
                      <a:pt x="253" y="17"/>
                    </a:lnTo>
                    <a:lnTo>
                      <a:pt x="265" y="18"/>
                    </a:lnTo>
                    <a:lnTo>
                      <a:pt x="277" y="17"/>
                    </a:lnTo>
                    <a:lnTo>
                      <a:pt x="288" y="16"/>
                    </a:lnTo>
                    <a:lnTo>
                      <a:pt x="297" y="14"/>
                    </a:lnTo>
                    <a:lnTo>
                      <a:pt x="314" y="15"/>
                    </a:lnTo>
                    <a:lnTo>
                      <a:pt x="303" y="19"/>
                    </a:lnTo>
                    <a:lnTo>
                      <a:pt x="294" y="26"/>
                    </a:lnTo>
                    <a:lnTo>
                      <a:pt x="303" y="27"/>
                    </a:lnTo>
                    <a:lnTo>
                      <a:pt x="311" y="26"/>
                    </a:lnTo>
                    <a:lnTo>
                      <a:pt x="323" y="27"/>
                    </a:lnTo>
                    <a:lnTo>
                      <a:pt x="342" y="33"/>
                    </a:lnTo>
                    <a:lnTo>
                      <a:pt x="331" y="35"/>
                    </a:lnTo>
                    <a:lnTo>
                      <a:pt x="321" y="37"/>
                    </a:lnTo>
                    <a:lnTo>
                      <a:pt x="315" y="40"/>
                    </a:lnTo>
                    <a:lnTo>
                      <a:pt x="328" y="42"/>
                    </a:lnTo>
                    <a:lnTo>
                      <a:pt x="338" y="44"/>
                    </a:lnTo>
                    <a:lnTo>
                      <a:pt x="345" y="45"/>
                    </a:lnTo>
                    <a:lnTo>
                      <a:pt x="355" y="49"/>
                    </a:lnTo>
                    <a:lnTo>
                      <a:pt x="367" y="55"/>
                    </a:lnTo>
                    <a:lnTo>
                      <a:pt x="385" y="61"/>
                    </a:lnTo>
                    <a:lnTo>
                      <a:pt x="374" y="64"/>
                    </a:lnTo>
                    <a:lnTo>
                      <a:pt x="366" y="68"/>
                    </a:lnTo>
                    <a:lnTo>
                      <a:pt x="360" y="72"/>
                    </a:lnTo>
                    <a:lnTo>
                      <a:pt x="359" y="77"/>
                    </a:lnTo>
                    <a:lnTo>
                      <a:pt x="367" y="78"/>
                    </a:lnTo>
                    <a:lnTo>
                      <a:pt x="375" y="81"/>
                    </a:lnTo>
                    <a:lnTo>
                      <a:pt x="383" y="85"/>
                    </a:lnTo>
                    <a:lnTo>
                      <a:pt x="395" y="88"/>
                    </a:lnTo>
                    <a:lnTo>
                      <a:pt x="404" y="87"/>
                    </a:lnTo>
                    <a:lnTo>
                      <a:pt x="397" y="95"/>
                    </a:lnTo>
                    <a:lnTo>
                      <a:pt x="395" y="107"/>
                    </a:lnTo>
                    <a:lnTo>
                      <a:pt x="399" y="117"/>
                    </a:lnTo>
                    <a:lnTo>
                      <a:pt x="402" y="126"/>
                    </a:lnTo>
                    <a:lnTo>
                      <a:pt x="404" y="134"/>
                    </a:lnTo>
                    <a:lnTo>
                      <a:pt x="397" y="149"/>
                    </a:lnTo>
                    <a:lnTo>
                      <a:pt x="421" y="148"/>
                    </a:lnTo>
                    <a:lnTo>
                      <a:pt x="400" y="162"/>
                    </a:lnTo>
                    <a:lnTo>
                      <a:pt x="393" y="171"/>
                    </a:lnTo>
                    <a:lnTo>
                      <a:pt x="390" y="187"/>
                    </a:lnTo>
                    <a:lnTo>
                      <a:pt x="400" y="194"/>
                    </a:lnTo>
                    <a:lnTo>
                      <a:pt x="396" y="204"/>
                    </a:lnTo>
                    <a:lnTo>
                      <a:pt x="393" y="217"/>
                    </a:lnTo>
                    <a:lnTo>
                      <a:pt x="400" y="228"/>
                    </a:lnTo>
                    <a:lnTo>
                      <a:pt x="390" y="244"/>
                    </a:lnTo>
                    <a:lnTo>
                      <a:pt x="386" y="254"/>
                    </a:lnTo>
                    <a:lnTo>
                      <a:pt x="381" y="286"/>
                    </a:lnTo>
                    <a:lnTo>
                      <a:pt x="373" y="211"/>
                    </a:lnTo>
                    <a:lnTo>
                      <a:pt x="364" y="183"/>
                    </a:lnTo>
                    <a:lnTo>
                      <a:pt x="345" y="141"/>
                    </a:lnTo>
                    <a:lnTo>
                      <a:pt x="329" y="127"/>
                    </a:lnTo>
                    <a:lnTo>
                      <a:pt x="304" y="120"/>
                    </a:lnTo>
                    <a:lnTo>
                      <a:pt x="277" y="118"/>
                    </a:lnTo>
                    <a:lnTo>
                      <a:pt x="248" y="111"/>
                    </a:lnTo>
                    <a:lnTo>
                      <a:pt x="223" y="105"/>
                    </a:lnTo>
                    <a:lnTo>
                      <a:pt x="194" y="98"/>
                    </a:lnTo>
                    <a:lnTo>
                      <a:pt x="167" y="96"/>
                    </a:lnTo>
                    <a:lnTo>
                      <a:pt x="117" y="94"/>
                    </a:lnTo>
                    <a:lnTo>
                      <a:pt x="111" y="100"/>
                    </a:lnTo>
                    <a:lnTo>
                      <a:pt x="103" y="106"/>
                    </a:lnTo>
                    <a:lnTo>
                      <a:pt x="95" y="111"/>
                    </a:lnTo>
                    <a:lnTo>
                      <a:pt x="89" y="111"/>
                    </a:lnTo>
                    <a:lnTo>
                      <a:pt x="82" y="114"/>
                    </a:lnTo>
                    <a:lnTo>
                      <a:pt x="75" y="127"/>
                    </a:lnTo>
                    <a:lnTo>
                      <a:pt x="67" y="140"/>
                    </a:lnTo>
                    <a:lnTo>
                      <a:pt x="65" y="158"/>
                    </a:lnTo>
                    <a:lnTo>
                      <a:pt x="59" y="170"/>
                    </a:lnTo>
                    <a:lnTo>
                      <a:pt x="53" y="184"/>
                    </a:lnTo>
                    <a:lnTo>
                      <a:pt x="46" y="194"/>
                    </a:lnTo>
                    <a:lnTo>
                      <a:pt x="40" y="205"/>
                    </a:lnTo>
                    <a:lnTo>
                      <a:pt x="36" y="218"/>
                    </a:lnTo>
                    <a:lnTo>
                      <a:pt x="33" y="233"/>
                    </a:lnTo>
                    <a:lnTo>
                      <a:pt x="25" y="288"/>
                    </a:lnTo>
                    <a:close/>
                  </a:path>
                </a:pathLst>
              </a:custGeom>
              <a:solidFill>
                <a:srgbClr val="201000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524" name="Group 146"/>
              <p:cNvGrpSpPr/>
              <p:nvPr/>
            </p:nvGrpSpPr>
            <p:grpSpPr>
              <a:xfrm>
                <a:off x="2056" y="1768"/>
                <a:ext cx="177" cy="29"/>
                <a:chOff x="2778" y="1013"/>
                <a:chExt cx="177" cy="29"/>
              </a:xfrm>
            </p:grpSpPr>
            <p:grpSp>
              <p:nvGrpSpPr>
                <p:cNvPr id="21537" name="Group 147"/>
                <p:cNvGrpSpPr/>
                <p:nvPr/>
              </p:nvGrpSpPr>
              <p:grpSpPr>
                <a:xfrm>
                  <a:off x="2778" y="1013"/>
                  <a:ext cx="29" cy="29"/>
                  <a:chOff x="2778" y="1013"/>
                  <a:chExt cx="29" cy="29"/>
                </a:xfrm>
              </p:grpSpPr>
              <p:sp>
                <p:nvSpPr>
                  <p:cNvPr id="21541" name="Oval 148"/>
                  <p:cNvSpPr/>
                  <p:nvPr/>
                </p:nvSpPr>
                <p:spPr>
                  <a:xfrm>
                    <a:off x="2778" y="1013"/>
                    <a:ext cx="29" cy="29"/>
                  </a:xfrm>
                  <a:prstGeom prst="ellipse">
                    <a:avLst/>
                  </a:prstGeom>
                  <a:solidFill>
                    <a:srgbClr val="4040FF"/>
                  </a:solidFill>
                  <a:ln w="12700" cap="flat" cmpd="sng">
                    <a:solidFill>
                      <a:srgbClr val="00008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542" name="Oval 149"/>
                  <p:cNvSpPr/>
                  <p:nvPr/>
                </p:nvSpPr>
                <p:spPr>
                  <a:xfrm>
                    <a:off x="2786" y="1017"/>
                    <a:ext cx="13" cy="1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1538" name="Group 150"/>
                <p:cNvGrpSpPr/>
                <p:nvPr/>
              </p:nvGrpSpPr>
              <p:grpSpPr>
                <a:xfrm>
                  <a:off x="2926" y="1013"/>
                  <a:ext cx="29" cy="29"/>
                  <a:chOff x="2926" y="1013"/>
                  <a:chExt cx="29" cy="29"/>
                </a:xfrm>
              </p:grpSpPr>
              <p:sp>
                <p:nvSpPr>
                  <p:cNvPr id="21539" name="Oval 151"/>
                  <p:cNvSpPr/>
                  <p:nvPr/>
                </p:nvSpPr>
                <p:spPr>
                  <a:xfrm>
                    <a:off x="2926" y="1013"/>
                    <a:ext cx="29" cy="29"/>
                  </a:xfrm>
                  <a:prstGeom prst="ellipse">
                    <a:avLst/>
                  </a:prstGeom>
                  <a:solidFill>
                    <a:srgbClr val="4040FF"/>
                  </a:solidFill>
                  <a:ln w="12700" cap="flat" cmpd="sng">
                    <a:solidFill>
                      <a:srgbClr val="00008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540" name="Oval 152"/>
                  <p:cNvSpPr/>
                  <p:nvPr/>
                </p:nvSpPr>
                <p:spPr>
                  <a:xfrm>
                    <a:off x="2933" y="1017"/>
                    <a:ext cx="13" cy="1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1525" name="Arc 153"/>
              <p:cNvSpPr/>
              <p:nvPr/>
            </p:nvSpPr>
            <p:spPr>
              <a:xfrm>
                <a:off x="2107" y="1865"/>
                <a:ext cx="81" cy="41"/>
              </a:xfrm>
              <a:custGeom>
                <a:avLst/>
                <a:gdLst>
                  <a:gd name="txL" fmla="*/ 0 w 43200"/>
                  <a:gd name="txT" fmla="*/ 0 h 21600"/>
                  <a:gd name="txR" fmla="*/ 43200 w 432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600" fill="none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200" h="21600" stroke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200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526" name="Group 154"/>
              <p:cNvGrpSpPr/>
              <p:nvPr/>
            </p:nvGrpSpPr>
            <p:grpSpPr>
              <a:xfrm>
                <a:off x="2024" y="1672"/>
                <a:ext cx="255" cy="71"/>
                <a:chOff x="2746" y="917"/>
                <a:chExt cx="255" cy="71"/>
              </a:xfrm>
            </p:grpSpPr>
            <p:sp>
              <p:nvSpPr>
                <p:cNvPr id="21535" name="Freeform 155"/>
                <p:cNvSpPr/>
                <p:nvPr/>
              </p:nvSpPr>
              <p:spPr>
                <a:xfrm>
                  <a:off x="2746" y="917"/>
                  <a:ext cx="78" cy="66"/>
                </a:xfrm>
                <a:custGeom>
                  <a:avLst/>
                  <a:gdLst>
                    <a:gd name="txL" fmla="*/ 0 w 78"/>
                    <a:gd name="txT" fmla="*/ 0 h 66"/>
                    <a:gd name="txR" fmla="*/ 78 w 78"/>
                    <a:gd name="txB" fmla="*/ 66 h 66"/>
                  </a:gdLst>
                  <a:ahLst/>
                  <a:cxnLst>
                    <a:cxn ang="0">
                      <a:pos x="67" y="5"/>
                    </a:cxn>
                    <a:cxn ang="0">
                      <a:pos x="59" y="8"/>
                    </a:cxn>
                    <a:cxn ang="0">
                      <a:pos x="51" y="12"/>
                    </a:cxn>
                    <a:cxn ang="0">
                      <a:pos x="45" y="16"/>
                    </a:cxn>
                    <a:cxn ang="0">
                      <a:pos x="40" y="20"/>
                    </a:cxn>
                    <a:cxn ang="0">
                      <a:pos x="35" y="28"/>
                    </a:cxn>
                    <a:cxn ang="0">
                      <a:pos x="30" y="37"/>
                    </a:cxn>
                    <a:cxn ang="0">
                      <a:pos x="26" y="44"/>
                    </a:cxn>
                    <a:cxn ang="0">
                      <a:pos x="22" y="49"/>
                    </a:cxn>
                    <a:cxn ang="0">
                      <a:pos x="17" y="55"/>
                    </a:cxn>
                    <a:cxn ang="0">
                      <a:pos x="0" y="66"/>
                    </a:cxn>
                    <a:cxn ang="0">
                      <a:pos x="11" y="63"/>
                    </a:cxn>
                    <a:cxn ang="0">
                      <a:pos x="18" y="61"/>
                    </a:cxn>
                    <a:cxn ang="0">
                      <a:pos x="25" y="57"/>
                    </a:cxn>
                    <a:cxn ang="0">
                      <a:pos x="33" y="50"/>
                    </a:cxn>
                    <a:cxn ang="0">
                      <a:pos x="37" y="45"/>
                    </a:cxn>
                    <a:cxn ang="0">
                      <a:pos x="43" y="37"/>
                    </a:cxn>
                    <a:cxn ang="0">
                      <a:pos x="46" y="30"/>
                    </a:cxn>
                    <a:cxn ang="0">
                      <a:pos x="50" y="24"/>
                    </a:cxn>
                    <a:cxn ang="0">
                      <a:pos x="55" y="17"/>
                    </a:cxn>
                    <a:cxn ang="0">
                      <a:pos x="60" y="14"/>
                    </a:cxn>
                    <a:cxn ang="0">
                      <a:pos x="68" y="10"/>
                    </a:cxn>
                    <a:cxn ang="0">
                      <a:pos x="74" y="7"/>
                    </a:cxn>
                    <a:cxn ang="0">
                      <a:pos x="78" y="0"/>
                    </a:cxn>
                    <a:cxn ang="0">
                      <a:pos x="67" y="5"/>
                    </a:cxn>
                  </a:cxnLst>
                  <a:rect l="txL" t="txT" r="txR" b="txB"/>
                  <a:pathLst>
                    <a:path w="78" h="66">
                      <a:moveTo>
                        <a:pt x="67" y="5"/>
                      </a:moveTo>
                      <a:lnTo>
                        <a:pt x="59" y="8"/>
                      </a:lnTo>
                      <a:lnTo>
                        <a:pt x="51" y="12"/>
                      </a:lnTo>
                      <a:lnTo>
                        <a:pt x="45" y="16"/>
                      </a:lnTo>
                      <a:lnTo>
                        <a:pt x="40" y="20"/>
                      </a:lnTo>
                      <a:lnTo>
                        <a:pt x="35" y="28"/>
                      </a:lnTo>
                      <a:lnTo>
                        <a:pt x="30" y="37"/>
                      </a:lnTo>
                      <a:lnTo>
                        <a:pt x="26" y="44"/>
                      </a:lnTo>
                      <a:lnTo>
                        <a:pt x="22" y="49"/>
                      </a:lnTo>
                      <a:lnTo>
                        <a:pt x="17" y="55"/>
                      </a:lnTo>
                      <a:lnTo>
                        <a:pt x="0" y="66"/>
                      </a:lnTo>
                      <a:lnTo>
                        <a:pt x="11" y="63"/>
                      </a:lnTo>
                      <a:lnTo>
                        <a:pt x="18" y="61"/>
                      </a:lnTo>
                      <a:lnTo>
                        <a:pt x="25" y="57"/>
                      </a:lnTo>
                      <a:lnTo>
                        <a:pt x="33" y="50"/>
                      </a:lnTo>
                      <a:lnTo>
                        <a:pt x="37" y="45"/>
                      </a:lnTo>
                      <a:lnTo>
                        <a:pt x="43" y="37"/>
                      </a:lnTo>
                      <a:lnTo>
                        <a:pt x="46" y="30"/>
                      </a:lnTo>
                      <a:lnTo>
                        <a:pt x="50" y="24"/>
                      </a:lnTo>
                      <a:lnTo>
                        <a:pt x="55" y="17"/>
                      </a:lnTo>
                      <a:lnTo>
                        <a:pt x="60" y="14"/>
                      </a:lnTo>
                      <a:lnTo>
                        <a:pt x="68" y="10"/>
                      </a:lnTo>
                      <a:lnTo>
                        <a:pt x="74" y="7"/>
                      </a:lnTo>
                      <a:lnTo>
                        <a:pt x="78" y="0"/>
                      </a:lnTo>
                      <a:lnTo>
                        <a:pt x="67" y="5"/>
                      </a:lnTo>
                      <a:close/>
                    </a:path>
                  </a:pathLst>
                </a:custGeom>
                <a:solidFill>
                  <a:srgbClr val="201000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36" name="Freeform 156"/>
                <p:cNvSpPr/>
                <p:nvPr/>
              </p:nvSpPr>
              <p:spPr>
                <a:xfrm>
                  <a:off x="2923" y="922"/>
                  <a:ext cx="78" cy="66"/>
                </a:xfrm>
                <a:custGeom>
                  <a:avLst/>
                  <a:gdLst>
                    <a:gd name="txL" fmla="*/ 0 w 78"/>
                    <a:gd name="txT" fmla="*/ 0 h 66"/>
                    <a:gd name="txR" fmla="*/ 78 w 78"/>
                    <a:gd name="txB" fmla="*/ 66 h 66"/>
                  </a:gdLst>
                  <a:ahLst/>
                  <a:cxnLst>
                    <a:cxn ang="0">
                      <a:pos x="11" y="5"/>
                    </a:cxn>
                    <a:cxn ang="0">
                      <a:pos x="20" y="8"/>
                    </a:cxn>
                    <a:cxn ang="0">
                      <a:pos x="27" y="11"/>
                    </a:cxn>
                    <a:cxn ang="0">
                      <a:pos x="33" y="15"/>
                    </a:cxn>
                    <a:cxn ang="0">
                      <a:pos x="38" y="20"/>
                    </a:cxn>
                    <a:cxn ang="0">
                      <a:pos x="43" y="28"/>
                    </a:cxn>
                    <a:cxn ang="0">
                      <a:pos x="48" y="37"/>
                    </a:cxn>
                    <a:cxn ang="0">
                      <a:pos x="52" y="44"/>
                    </a:cxn>
                    <a:cxn ang="0">
                      <a:pos x="56" y="49"/>
                    </a:cxn>
                    <a:cxn ang="0">
                      <a:pos x="61" y="55"/>
                    </a:cxn>
                    <a:cxn ang="0">
                      <a:pos x="78" y="66"/>
                    </a:cxn>
                    <a:cxn ang="0">
                      <a:pos x="67" y="63"/>
                    </a:cxn>
                    <a:cxn ang="0">
                      <a:pos x="60" y="60"/>
                    </a:cxn>
                    <a:cxn ang="0">
                      <a:pos x="53" y="56"/>
                    </a:cxn>
                    <a:cxn ang="0">
                      <a:pos x="45" y="50"/>
                    </a:cxn>
                    <a:cxn ang="0">
                      <a:pos x="41" y="45"/>
                    </a:cxn>
                    <a:cxn ang="0">
                      <a:pos x="35" y="36"/>
                    </a:cxn>
                    <a:cxn ang="0">
                      <a:pos x="32" y="30"/>
                    </a:cxn>
                    <a:cxn ang="0">
                      <a:pos x="28" y="24"/>
                    </a:cxn>
                    <a:cxn ang="0">
                      <a:pos x="23" y="17"/>
                    </a:cxn>
                    <a:cxn ang="0">
                      <a:pos x="18" y="14"/>
                    </a:cxn>
                    <a:cxn ang="0">
                      <a:pos x="10" y="10"/>
                    </a:cxn>
                    <a:cxn ang="0">
                      <a:pos x="4" y="7"/>
                    </a:cxn>
                    <a:cxn ang="0">
                      <a:pos x="0" y="0"/>
                    </a:cxn>
                    <a:cxn ang="0">
                      <a:pos x="11" y="5"/>
                    </a:cxn>
                  </a:cxnLst>
                  <a:rect l="txL" t="txT" r="txR" b="txB"/>
                  <a:pathLst>
                    <a:path w="78" h="66">
                      <a:moveTo>
                        <a:pt x="11" y="5"/>
                      </a:moveTo>
                      <a:lnTo>
                        <a:pt x="20" y="8"/>
                      </a:lnTo>
                      <a:lnTo>
                        <a:pt x="27" y="11"/>
                      </a:lnTo>
                      <a:lnTo>
                        <a:pt x="33" y="15"/>
                      </a:lnTo>
                      <a:lnTo>
                        <a:pt x="38" y="20"/>
                      </a:lnTo>
                      <a:lnTo>
                        <a:pt x="43" y="28"/>
                      </a:lnTo>
                      <a:lnTo>
                        <a:pt x="48" y="37"/>
                      </a:lnTo>
                      <a:lnTo>
                        <a:pt x="52" y="44"/>
                      </a:lnTo>
                      <a:lnTo>
                        <a:pt x="56" y="49"/>
                      </a:lnTo>
                      <a:lnTo>
                        <a:pt x="61" y="55"/>
                      </a:lnTo>
                      <a:lnTo>
                        <a:pt x="78" y="66"/>
                      </a:lnTo>
                      <a:lnTo>
                        <a:pt x="67" y="63"/>
                      </a:lnTo>
                      <a:lnTo>
                        <a:pt x="60" y="60"/>
                      </a:lnTo>
                      <a:lnTo>
                        <a:pt x="53" y="56"/>
                      </a:lnTo>
                      <a:lnTo>
                        <a:pt x="45" y="50"/>
                      </a:lnTo>
                      <a:lnTo>
                        <a:pt x="41" y="45"/>
                      </a:lnTo>
                      <a:lnTo>
                        <a:pt x="35" y="36"/>
                      </a:lnTo>
                      <a:lnTo>
                        <a:pt x="32" y="30"/>
                      </a:lnTo>
                      <a:lnTo>
                        <a:pt x="28" y="24"/>
                      </a:lnTo>
                      <a:lnTo>
                        <a:pt x="23" y="17"/>
                      </a:lnTo>
                      <a:lnTo>
                        <a:pt x="18" y="14"/>
                      </a:lnTo>
                      <a:lnTo>
                        <a:pt x="10" y="10"/>
                      </a:lnTo>
                      <a:lnTo>
                        <a:pt x="4" y="7"/>
                      </a:lnTo>
                      <a:lnTo>
                        <a:pt x="0" y="0"/>
                      </a:lnTo>
                      <a:lnTo>
                        <a:pt x="11" y="5"/>
                      </a:lnTo>
                      <a:close/>
                    </a:path>
                  </a:pathLst>
                </a:custGeom>
                <a:solidFill>
                  <a:srgbClr val="201000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27" name="Group 157"/>
              <p:cNvGrpSpPr/>
              <p:nvPr/>
            </p:nvGrpSpPr>
            <p:grpSpPr>
              <a:xfrm>
                <a:off x="1969" y="1732"/>
                <a:ext cx="371" cy="104"/>
                <a:chOff x="2691" y="977"/>
                <a:chExt cx="371" cy="104"/>
              </a:xfrm>
            </p:grpSpPr>
            <p:grpSp>
              <p:nvGrpSpPr>
                <p:cNvPr id="21529" name="Group 158"/>
                <p:cNvGrpSpPr/>
                <p:nvPr/>
              </p:nvGrpSpPr>
              <p:grpSpPr>
                <a:xfrm>
                  <a:off x="2741" y="977"/>
                  <a:ext cx="258" cy="104"/>
                  <a:chOff x="2741" y="977"/>
                  <a:chExt cx="258" cy="104"/>
                </a:xfrm>
              </p:grpSpPr>
              <p:sp>
                <p:nvSpPr>
                  <p:cNvPr id="21533" name="Oval 159"/>
                  <p:cNvSpPr/>
                  <p:nvPr/>
                </p:nvSpPr>
                <p:spPr>
                  <a:xfrm>
                    <a:off x="2895" y="977"/>
                    <a:ext cx="104" cy="104"/>
                  </a:xfrm>
                  <a:prstGeom prst="ellipse">
                    <a:avLst/>
                  </a:prstGeom>
                  <a:noFill/>
                  <a:ln w="127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534" name="Oval 160"/>
                  <p:cNvSpPr/>
                  <p:nvPr/>
                </p:nvSpPr>
                <p:spPr>
                  <a:xfrm>
                    <a:off x="2741" y="977"/>
                    <a:ext cx="104" cy="104"/>
                  </a:xfrm>
                  <a:prstGeom prst="ellipse">
                    <a:avLst/>
                  </a:prstGeom>
                  <a:noFill/>
                  <a:ln w="127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1530" name="Arc 161"/>
                <p:cNvSpPr/>
                <p:nvPr/>
              </p:nvSpPr>
              <p:spPr>
                <a:xfrm>
                  <a:off x="2846" y="1006"/>
                  <a:ext cx="46" cy="29"/>
                </a:xfrm>
                <a:custGeom>
                  <a:avLst/>
                  <a:gdLst>
                    <a:gd name="txL" fmla="*/ 0 w 34033"/>
                    <a:gd name="txT" fmla="*/ 0 h 21600"/>
                    <a:gd name="txR" fmla="*/ 34033 w 34033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4033" h="21600" fill="none">
                      <a:moveTo>
                        <a:pt x="0" y="10537"/>
                      </a:moveTo>
                      <a:cubicBezTo>
                        <a:pt x="3896" y="4002"/>
                        <a:pt x="10943" y="-1"/>
                        <a:pt x="18552" y="0"/>
                      </a:cubicBezTo>
                      <a:cubicBezTo>
                        <a:pt x="24383" y="0"/>
                        <a:pt x="29966" y="2357"/>
                        <a:pt x="34033" y="6536"/>
                      </a:cubicBezTo>
                    </a:path>
                    <a:path w="34033" h="21600" stroke="0">
                      <a:moveTo>
                        <a:pt x="0" y="10537"/>
                      </a:moveTo>
                      <a:cubicBezTo>
                        <a:pt x="3896" y="4002"/>
                        <a:pt x="10943" y="-1"/>
                        <a:pt x="18552" y="0"/>
                      </a:cubicBezTo>
                      <a:cubicBezTo>
                        <a:pt x="24383" y="0"/>
                        <a:pt x="29966" y="2357"/>
                        <a:pt x="34033" y="6536"/>
                      </a:cubicBezTo>
                      <a:lnTo>
                        <a:pt x="18552" y="21600"/>
                      </a:lnTo>
                      <a:lnTo>
                        <a:pt x="0" y="10537"/>
                      </a:lnTo>
                      <a:close/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31" name="Line 162"/>
                <p:cNvSpPr/>
                <p:nvPr/>
              </p:nvSpPr>
              <p:spPr>
                <a:xfrm>
                  <a:off x="2691" y="1004"/>
                  <a:ext cx="59" cy="10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532" name="Line 163"/>
                <p:cNvSpPr/>
                <p:nvPr/>
              </p:nvSpPr>
              <p:spPr>
                <a:xfrm flipV="1">
                  <a:off x="2999" y="988"/>
                  <a:ext cx="63" cy="22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1528" name="Freeform 164"/>
              <p:cNvSpPr/>
              <p:nvPr/>
            </p:nvSpPr>
            <p:spPr>
              <a:xfrm>
                <a:off x="2140" y="1998"/>
                <a:ext cx="21" cy="3"/>
              </a:xfrm>
              <a:custGeom>
                <a:avLst/>
                <a:gdLst>
                  <a:gd name="txL" fmla="*/ 0 w 21"/>
                  <a:gd name="txT" fmla="*/ 0 h 3"/>
                  <a:gd name="txR" fmla="*/ 21 w 21"/>
                  <a:gd name="txB" fmla="*/ 3 h 3"/>
                </a:gdLst>
                <a:ahLst/>
                <a:cxnLst>
                  <a:cxn ang="0">
                    <a:pos x="0" y="2"/>
                  </a:cxn>
                  <a:cxn ang="0">
                    <a:pos x="8" y="0"/>
                  </a:cxn>
                  <a:cxn ang="0">
                    <a:pos x="15" y="2"/>
                  </a:cxn>
                  <a:cxn ang="0">
                    <a:pos x="21" y="3"/>
                  </a:cxn>
                </a:cxnLst>
                <a:rect l="txL" t="txT" r="txR" b="txB"/>
                <a:pathLst>
                  <a:path w="21" h="3">
                    <a:moveTo>
                      <a:pt x="0" y="2"/>
                    </a:moveTo>
                    <a:lnTo>
                      <a:pt x="8" y="0"/>
                    </a:lnTo>
                    <a:lnTo>
                      <a:pt x="15" y="2"/>
                    </a:lnTo>
                    <a:lnTo>
                      <a:pt x="21" y="3"/>
                    </a:ln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19" name="Text Box 165"/>
            <p:cNvSpPr txBox="1"/>
            <p:nvPr/>
          </p:nvSpPr>
          <p:spPr>
            <a:xfrm>
              <a:off x="1248" y="3143"/>
              <a:ext cx="5772" cy="6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no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i="1" dirty="0">
                  <a:latin typeface="Times New Roman" panose="02020603050405020304" pitchFamily="18" charset="0"/>
                </a:rPr>
                <a:t>Why does B-tree seem more space-efficient by storing data in non-leaf nodes, yet B+tree is often considered superior?</a:t>
              </a:r>
              <a:endParaRPr lang="en-US" altLang="zh-CN" sz="3200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5"/>
          <p:cNvGrpSpPr/>
          <p:nvPr/>
        </p:nvGrpSpPr>
        <p:grpSpPr>
          <a:xfrm flipH="1">
            <a:off x="5006975" y="4733290"/>
            <a:ext cx="2368550" cy="1907540"/>
            <a:chOff x="244" y="3190"/>
            <a:chExt cx="904" cy="853"/>
          </a:xfrm>
        </p:grpSpPr>
        <p:grpSp>
          <p:nvGrpSpPr>
            <p:cNvPr id="13334" name="Group 40"/>
            <p:cNvGrpSpPr/>
            <p:nvPr/>
          </p:nvGrpSpPr>
          <p:grpSpPr>
            <a:xfrm>
              <a:off x="563" y="3651"/>
              <a:ext cx="468" cy="392"/>
              <a:chOff x="563" y="3651"/>
              <a:chExt cx="468" cy="392"/>
            </a:xfrm>
          </p:grpSpPr>
          <p:sp>
            <p:nvSpPr>
              <p:cNvPr id="13349" name="Freeform 38"/>
              <p:cNvSpPr/>
              <p:nvPr/>
            </p:nvSpPr>
            <p:spPr>
              <a:xfrm>
                <a:off x="563" y="3654"/>
                <a:ext cx="468" cy="389"/>
              </a:xfrm>
              <a:custGeom>
                <a:avLst/>
                <a:gdLst>
                  <a:gd name="txL" fmla="*/ 0 w 1403"/>
                  <a:gd name="txT" fmla="*/ 0 h 1166"/>
                  <a:gd name="txR" fmla="*/ 1403 w 1403"/>
                  <a:gd name="txB" fmla="*/ 1166 h 1166"/>
                </a:gdLst>
                <a:ahLst/>
                <a:cxnLst>
                  <a:cxn ang="0">
                    <a:pos x="52" y="43"/>
                  </a:cxn>
                  <a:cxn ang="0">
                    <a:pos x="52" y="21"/>
                  </a:cxn>
                  <a:cxn ang="0">
                    <a:pos x="51" y="3"/>
                  </a:cxn>
                  <a:cxn ang="0">
                    <a:pos x="25" y="0"/>
                  </a:cxn>
                  <a:cxn ang="0">
                    <a:pos x="1" y="3"/>
                  </a:cxn>
                  <a:cxn ang="0">
                    <a:pos x="1" y="9"/>
                  </a:cxn>
                  <a:cxn ang="0">
                    <a:pos x="0" y="43"/>
                  </a:cxn>
                  <a:cxn ang="0">
                    <a:pos x="5" y="43"/>
                  </a:cxn>
                  <a:cxn ang="0">
                    <a:pos x="5" y="12"/>
                  </a:cxn>
                  <a:cxn ang="0">
                    <a:pos x="16" y="11"/>
                  </a:cxn>
                  <a:cxn ang="0">
                    <a:pos x="47" y="11"/>
                  </a:cxn>
                  <a:cxn ang="0">
                    <a:pos x="48" y="43"/>
                  </a:cxn>
                  <a:cxn ang="0">
                    <a:pos x="52" y="43"/>
                  </a:cxn>
                </a:cxnLst>
                <a:rect l="txL" t="txT" r="txR" b="txB"/>
                <a:pathLst>
                  <a:path w="1403" h="1166">
                    <a:moveTo>
                      <a:pt x="1403" y="1164"/>
                    </a:moveTo>
                    <a:lnTo>
                      <a:pt x="1403" y="561"/>
                    </a:lnTo>
                    <a:lnTo>
                      <a:pt x="1382" y="79"/>
                    </a:lnTo>
                    <a:lnTo>
                      <a:pt x="671" y="0"/>
                    </a:lnTo>
                    <a:lnTo>
                      <a:pt x="22" y="71"/>
                    </a:lnTo>
                    <a:lnTo>
                      <a:pt x="19" y="241"/>
                    </a:lnTo>
                    <a:lnTo>
                      <a:pt x="0" y="1159"/>
                    </a:lnTo>
                    <a:lnTo>
                      <a:pt x="144" y="1159"/>
                    </a:lnTo>
                    <a:lnTo>
                      <a:pt x="144" y="328"/>
                    </a:lnTo>
                    <a:lnTo>
                      <a:pt x="422" y="308"/>
                    </a:lnTo>
                    <a:lnTo>
                      <a:pt x="1272" y="308"/>
                    </a:lnTo>
                    <a:lnTo>
                      <a:pt x="1284" y="1166"/>
                    </a:lnTo>
                    <a:lnTo>
                      <a:pt x="1403" y="1164"/>
                    </a:lnTo>
                    <a:close/>
                  </a:path>
                </a:pathLst>
              </a:custGeom>
              <a:solidFill>
                <a:srgbClr val="000080"/>
              </a:soli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50" name="Freeform 39"/>
              <p:cNvSpPr/>
              <p:nvPr/>
            </p:nvSpPr>
            <p:spPr>
              <a:xfrm>
                <a:off x="599" y="3651"/>
                <a:ext cx="182" cy="99"/>
              </a:xfrm>
              <a:custGeom>
                <a:avLst/>
                <a:gdLst>
                  <a:gd name="txL" fmla="*/ 0 w 548"/>
                  <a:gd name="txT" fmla="*/ 0 h 297"/>
                  <a:gd name="txR" fmla="*/ 548 w 548"/>
                  <a:gd name="txB" fmla="*/ 297 h 297"/>
                </a:gdLst>
                <a:ahLst/>
                <a:cxnLst>
                  <a:cxn ang="0">
                    <a:pos x="4" y="2"/>
                  </a:cxn>
                  <a:cxn ang="0">
                    <a:pos x="6" y="2"/>
                  </a:cxn>
                  <a:cxn ang="0">
                    <a:pos x="9" y="0"/>
                  </a:cxn>
                  <a:cxn ang="0">
                    <a:pos x="12" y="3"/>
                  </a:cxn>
                  <a:cxn ang="0">
                    <a:pos x="20" y="8"/>
                  </a:cxn>
                  <a:cxn ang="0">
                    <a:pos x="20" y="9"/>
                  </a:cxn>
                  <a:cxn ang="0">
                    <a:pos x="15" y="11"/>
                  </a:cxn>
                  <a:cxn ang="0">
                    <a:pos x="0" y="3"/>
                  </a:cxn>
                  <a:cxn ang="0">
                    <a:pos x="4" y="2"/>
                  </a:cxn>
                </a:cxnLst>
                <a:rect l="txL" t="txT" r="txR" b="txB"/>
                <a:pathLst>
                  <a:path w="548" h="297">
                    <a:moveTo>
                      <a:pt x="102" y="58"/>
                    </a:moveTo>
                    <a:lnTo>
                      <a:pt x="175" y="47"/>
                    </a:lnTo>
                    <a:lnTo>
                      <a:pt x="242" y="0"/>
                    </a:lnTo>
                    <a:lnTo>
                      <a:pt x="313" y="70"/>
                    </a:lnTo>
                    <a:lnTo>
                      <a:pt x="533" y="205"/>
                    </a:lnTo>
                    <a:lnTo>
                      <a:pt x="548" y="256"/>
                    </a:lnTo>
                    <a:lnTo>
                      <a:pt x="421" y="297"/>
                    </a:lnTo>
                    <a:lnTo>
                      <a:pt x="0" y="92"/>
                    </a:lnTo>
                    <a:lnTo>
                      <a:pt x="102" y="58"/>
                    </a:lnTo>
                    <a:close/>
                  </a:path>
                </a:pathLst>
              </a:custGeom>
              <a:solidFill>
                <a:srgbClr val="C0C0C0"/>
              </a:soli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335" name="Group 47"/>
            <p:cNvGrpSpPr/>
            <p:nvPr/>
          </p:nvGrpSpPr>
          <p:grpSpPr>
            <a:xfrm>
              <a:off x="711" y="3300"/>
              <a:ext cx="437" cy="583"/>
              <a:chOff x="711" y="3300"/>
              <a:chExt cx="437" cy="583"/>
            </a:xfrm>
          </p:grpSpPr>
          <p:grpSp>
            <p:nvGrpSpPr>
              <p:cNvPr id="13343" name="Group 43"/>
              <p:cNvGrpSpPr/>
              <p:nvPr/>
            </p:nvGrpSpPr>
            <p:grpSpPr>
              <a:xfrm>
                <a:off x="711" y="3300"/>
                <a:ext cx="437" cy="445"/>
                <a:chOff x="711" y="3300"/>
                <a:chExt cx="437" cy="445"/>
              </a:xfrm>
            </p:grpSpPr>
            <p:sp>
              <p:nvSpPr>
                <p:cNvPr id="13347" name="Freeform 41"/>
                <p:cNvSpPr/>
                <p:nvPr/>
              </p:nvSpPr>
              <p:spPr>
                <a:xfrm>
                  <a:off x="711" y="3300"/>
                  <a:ext cx="437" cy="445"/>
                </a:xfrm>
                <a:custGeom>
                  <a:avLst/>
                  <a:gdLst>
                    <a:gd name="txL" fmla="*/ 0 w 1310"/>
                    <a:gd name="txT" fmla="*/ 0 h 1335"/>
                    <a:gd name="txR" fmla="*/ 1310 w 1310"/>
                    <a:gd name="txB" fmla="*/ 1335 h 1335"/>
                  </a:gdLst>
                  <a:ahLst/>
                  <a:cxnLst>
                    <a:cxn ang="0">
                      <a:pos x="9" y="10"/>
                    </a:cxn>
                    <a:cxn ang="0">
                      <a:pos x="10" y="7"/>
                    </a:cxn>
                    <a:cxn ang="0">
                      <a:pos x="11" y="4"/>
                    </a:cxn>
                    <a:cxn ang="0">
                      <a:pos x="11" y="4"/>
                    </a:cxn>
                    <a:cxn ang="0">
                      <a:pos x="12" y="3"/>
                    </a:cxn>
                    <a:cxn ang="0">
                      <a:pos x="12" y="3"/>
                    </a:cxn>
                    <a:cxn ang="0">
                      <a:pos x="12" y="3"/>
                    </a:cxn>
                    <a:cxn ang="0">
                      <a:pos x="19" y="2"/>
                    </a:cxn>
                    <a:cxn ang="0">
                      <a:pos x="25" y="0"/>
                    </a:cxn>
                    <a:cxn ang="0">
                      <a:pos x="31" y="0"/>
                    </a:cxn>
                    <a:cxn ang="0">
                      <a:pos x="35" y="0"/>
                    </a:cxn>
                    <a:cxn ang="0">
                      <a:pos x="42" y="0"/>
                    </a:cxn>
                    <a:cxn ang="0">
                      <a:pos x="47" y="1"/>
                    </a:cxn>
                    <a:cxn ang="0">
                      <a:pos x="48" y="1"/>
                    </a:cxn>
                    <a:cxn ang="0">
                      <a:pos x="48" y="1"/>
                    </a:cxn>
                    <a:cxn ang="0">
                      <a:pos x="48" y="1"/>
                    </a:cxn>
                    <a:cxn ang="0">
                      <a:pos x="49" y="2"/>
                    </a:cxn>
                    <a:cxn ang="0">
                      <a:pos x="49" y="2"/>
                    </a:cxn>
                    <a:cxn ang="0">
                      <a:pos x="48" y="3"/>
                    </a:cxn>
                    <a:cxn ang="0">
                      <a:pos x="47" y="8"/>
                    </a:cxn>
                    <a:cxn ang="0">
                      <a:pos x="47" y="11"/>
                    </a:cxn>
                    <a:cxn ang="0">
                      <a:pos x="45" y="19"/>
                    </a:cxn>
                    <a:cxn ang="0">
                      <a:pos x="44" y="23"/>
                    </a:cxn>
                    <a:cxn ang="0">
                      <a:pos x="41" y="34"/>
                    </a:cxn>
                    <a:cxn ang="0">
                      <a:pos x="38" y="43"/>
                    </a:cxn>
                    <a:cxn ang="0">
                      <a:pos x="38" y="44"/>
                    </a:cxn>
                    <a:cxn ang="0">
                      <a:pos x="37" y="45"/>
                    </a:cxn>
                    <a:cxn ang="0">
                      <a:pos x="37" y="46"/>
                    </a:cxn>
                    <a:cxn ang="0">
                      <a:pos x="37" y="47"/>
                    </a:cxn>
                    <a:cxn ang="0">
                      <a:pos x="36" y="47"/>
                    </a:cxn>
                    <a:cxn ang="0">
                      <a:pos x="36" y="47"/>
                    </a:cxn>
                    <a:cxn ang="0">
                      <a:pos x="35" y="48"/>
                    </a:cxn>
                    <a:cxn ang="0">
                      <a:pos x="33" y="48"/>
                    </a:cxn>
                    <a:cxn ang="0">
                      <a:pos x="30" y="48"/>
                    </a:cxn>
                    <a:cxn ang="0">
                      <a:pos x="28" y="48"/>
                    </a:cxn>
                    <a:cxn ang="0">
                      <a:pos x="25" y="49"/>
                    </a:cxn>
                    <a:cxn ang="0">
                      <a:pos x="22" y="49"/>
                    </a:cxn>
                    <a:cxn ang="0">
                      <a:pos x="20" y="49"/>
                    </a:cxn>
                    <a:cxn ang="0">
                      <a:pos x="17" y="49"/>
                    </a:cxn>
                    <a:cxn ang="0">
                      <a:pos x="16" y="49"/>
                    </a:cxn>
                    <a:cxn ang="0">
                      <a:pos x="1" y="39"/>
                    </a:cxn>
                    <a:cxn ang="0">
                      <a:pos x="1" y="39"/>
                    </a:cxn>
                    <a:cxn ang="0">
                      <a:pos x="0" y="38"/>
                    </a:cxn>
                    <a:cxn ang="0">
                      <a:pos x="0" y="37"/>
                    </a:cxn>
                    <a:cxn ang="0">
                      <a:pos x="0" y="36"/>
                    </a:cxn>
                    <a:cxn ang="0">
                      <a:pos x="0" y="35"/>
                    </a:cxn>
                    <a:cxn ang="0">
                      <a:pos x="4" y="23"/>
                    </a:cxn>
                    <a:cxn ang="0">
                      <a:pos x="7" y="16"/>
                    </a:cxn>
                    <a:cxn ang="0">
                      <a:pos x="9" y="10"/>
                    </a:cxn>
                  </a:cxnLst>
                  <a:rect l="txL" t="txT" r="txR" b="txB"/>
                  <a:pathLst>
                    <a:path w="1310" h="1335">
                      <a:moveTo>
                        <a:pt x="245" y="271"/>
                      </a:moveTo>
                      <a:lnTo>
                        <a:pt x="276" y="179"/>
                      </a:lnTo>
                      <a:lnTo>
                        <a:pt x="297" y="120"/>
                      </a:lnTo>
                      <a:lnTo>
                        <a:pt x="304" y="103"/>
                      </a:lnTo>
                      <a:lnTo>
                        <a:pt x="316" y="88"/>
                      </a:lnTo>
                      <a:lnTo>
                        <a:pt x="323" y="81"/>
                      </a:lnTo>
                      <a:lnTo>
                        <a:pt x="337" y="76"/>
                      </a:lnTo>
                      <a:lnTo>
                        <a:pt x="502" y="44"/>
                      </a:lnTo>
                      <a:lnTo>
                        <a:pt x="681" y="12"/>
                      </a:lnTo>
                      <a:lnTo>
                        <a:pt x="841" y="0"/>
                      </a:lnTo>
                      <a:lnTo>
                        <a:pt x="933" y="0"/>
                      </a:lnTo>
                      <a:lnTo>
                        <a:pt x="1124" y="11"/>
                      </a:lnTo>
                      <a:lnTo>
                        <a:pt x="1262" y="17"/>
                      </a:lnTo>
                      <a:lnTo>
                        <a:pt x="1282" y="19"/>
                      </a:lnTo>
                      <a:lnTo>
                        <a:pt x="1295" y="25"/>
                      </a:lnTo>
                      <a:lnTo>
                        <a:pt x="1304" y="31"/>
                      </a:lnTo>
                      <a:lnTo>
                        <a:pt x="1310" y="41"/>
                      </a:lnTo>
                      <a:lnTo>
                        <a:pt x="1310" y="53"/>
                      </a:lnTo>
                      <a:lnTo>
                        <a:pt x="1303" y="89"/>
                      </a:lnTo>
                      <a:lnTo>
                        <a:pt x="1276" y="210"/>
                      </a:lnTo>
                      <a:lnTo>
                        <a:pt x="1256" y="300"/>
                      </a:lnTo>
                      <a:lnTo>
                        <a:pt x="1212" y="501"/>
                      </a:lnTo>
                      <a:lnTo>
                        <a:pt x="1183" y="626"/>
                      </a:lnTo>
                      <a:lnTo>
                        <a:pt x="1105" y="917"/>
                      </a:lnTo>
                      <a:lnTo>
                        <a:pt x="1030" y="1150"/>
                      </a:lnTo>
                      <a:lnTo>
                        <a:pt x="1015" y="1195"/>
                      </a:lnTo>
                      <a:lnTo>
                        <a:pt x="1007" y="1220"/>
                      </a:lnTo>
                      <a:lnTo>
                        <a:pt x="1000" y="1244"/>
                      </a:lnTo>
                      <a:lnTo>
                        <a:pt x="991" y="1259"/>
                      </a:lnTo>
                      <a:lnTo>
                        <a:pt x="978" y="1274"/>
                      </a:lnTo>
                      <a:lnTo>
                        <a:pt x="965" y="1280"/>
                      </a:lnTo>
                      <a:lnTo>
                        <a:pt x="940" y="1286"/>
                      </a:lnTo>
                      <a:lnTo>
                        <a:pt x="896" y="1290"/>
                      </a:lnTo>
                      <a:lnTo>
                        <a:pt x="821" y="1290"/>
                      </a:lnTo>
                      <a:lnTo>
                        <a:pt x="758" y="1297"/>
                      </a:lnTo>
                      <a:lnTo>
                        <a:pt x="675" y="1311"/>
                      </a:lnTo>
                      <a:lnTo>
                        <a:pt x="589" y="1325"/>
                      </a:lnTo>
                      <a:lnTo>
                        <a:pt x="531" y="1335"/>
                      </a:lnTo>
                      <a:lnTo>
                        <a:pt x="459" y="1335"/>
                      </a:lnTo>
                      <a:lnTo>
                        <a:pt x="444" y="1325"/>
                      </a:lnTo>
                      <a:lnTo>
                        <a:pt x="40" y="1059"/>
                      </a:lnTo>
                      <a:lnTo>
                        <a:pt x="20" y="1042"/>
                      </a:lnTo>
                      <a:lnTo>
                        <a:pt x="6" y="1024"/>
                      </a:lnTo>
                      <a:lnTo>
                        <a:pt x="0" y="1004"/>
                      </a:lnTo>
                      <a:lnTo>
                        <a:pt x="0" y="980"/>
                      </a:lnTo>
                      <a:lnTo>
                        <a:pt x="6" y="958"/>
                      </a:lnTo>
                      <a:lnTo>
                        <a:pt x="121" y="629"/>
                      </a:lnTo>
                      <a:lnTo>
                        <a:pt x="194" y="422"/>
                      </a:lnTo>
                      <a:lnTo>
                        <a:pt x="245" y="271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8" name="Freeform 42"/>
                <p:cNvSpPr/>
                <p:nvPr/>
              </p:nvSpPr>
              <p:spPr>
                <a:xfrm>
                  <a:off x="734" y="3345"/>
                  <a:ext cx="260" cy="337"/>
                </a:xfrm>
                <a:custGeom>
                  <a:avLst/>
                  <a:gdLst>
                    <a:gd name="txL" fmla="*/ 0 w 778"/>
                    <a:gd name="txT" fmla="*/ 0 h 1013"/>
                    <a:gd name="txR" fmla="*/ 778 w 778"/>
                    <a:gd name="txB" fmla="*/ 1013 h 1013"/>
                  </a:gdLst>
                  <a:ahLst/>
                  <a:cxnLst>
                    <a:cxn ang="0">
                      <a:pos x="7" y="11"/>
                    </a:cxn>
                    <a:cxn ang="0">
                      <a:pos x="9" y="6"/>
                    </a:cxn>
                    <a:cxn ang="0">
                      <a:pos x="11" y="1"/>
                    </a:cxn>
                    <a:cxn ang="0">
                      <a:pos x="11" y="1"/>
                    </a:cxn>
                    <a:cxn ang="0">
                      <a:pos x="11" y="1"/>
                    </a:cxn>
                    <a:cxn ang="0">
                      <a:pos x="12" y="1"/>
                    </a:cxn>
                    <a:cxn ang="0">
                      <a:pos x="20" y="0"/>
                    </a:cxn>
                    <a:cxn ang="0">
                      <a:pos x="28" y="0"/>
                    </a:cxn>
                    <a:cxn ang="0">
                      <a:pos x="29" y="0"/>
                    </a:cxn>
                    <a:cxn ang="0">
                      <a:pos x="29" y="0"/>
                    </a:cxn>
                    <a:cxn ang="0">
                      <a:pos x="29" y="1"/>
                    </a:cxn>
                    <a:cxn ang="0">
                      <a:pos x="28" y="4"/>
                    </a:cxn>
                    <a:cxn ang="0">
                      <a:pos x="27" y="7"/>
                    </a:cxn>
                    <a:cxn ang="0">
                      <a:pos x="25" y="12"/>
                    </a:cxn>
                    <a:cxn ang="0">
                      <a:pos x="21" y="22"/>
                    </a:cxn>
                    <a:cxn ang="0">
                      <a:pos x="17" y="30"/>
                    </a:cxn>
                    <a:cxn ang="0">
                      <a:pos x="16" y="33"/>
                    </a:cxn>
                    <a:cxn ang="0">
                      <a:pos x="16" y="35"/>
                    </a:cxn>
                    <a:cxn ang="0">
                      <a:pos x="15" y="36"/>
                    </a:cxn>
                    <a:cxn ang="0">
                      <a:pos x="15" y="37"/>
                    </a:cxn>
                    <a:cxn ang="0">
                      <a:pos x="14" y="37"/>
                    </a:cxn>
                    <a:cxn ang="0">
                      <a:pos x="14" y="37"/>
                    </a:cxn>
                    <a:cxn ang="0">
                      <a:pos x="13" y="37"/>
                    </a:cxn>
                    <a:cxn ang="0">
                      <a:pos x="13" y="37"/>
                    </a:cxn>
                    <a:cxn ang="0">
                      <a:pos x="12" y="37"/>
                    </a:cxn>
                    <a:cxn ang="0">
                      <a:pos x="11" y="36"/>
                    </a:cxn>
                    <a:cxn ang="0">
                      <a:pos x="10" y="35"/>
                    </a:cxn>
                    <a:cxn ang="0">
                      <a:pos x="9" y="35"/>
                    </a:cxn>
                    <a:cxn ang="0">
                      <a:pos x="9" y="34"/>
                    </a:cxn>
                    <a:cxn ang="0">
                      <a:pos x="0" y="31"/>
                    </a:cxn>
                    <a:cxn ang="0">
                      <a:pos x="0" y="30"/>
                    </a:cxn>
                    <a:cxn ang="0">
                      <a:pos x="0" y="30"/>
                    </a:cxn>
                    <a:cxn ang="0">
                      <a:pos x="0" y="30"/>
                    </a:cxn>
                    <a:cxn ang="0">
                      <a:pos x="0" y="29"/>
                    </a:cxn>
                    <a:cxn ang="0">
                      <a:pos x="7" y="11"/>
                    </a:cxn>
                  </a:cxnLst>
                  <a:rect l="txL" t="txT" r="txR" b="txB"/>
                  <a:pathLst>
                    <a:path w="778" h="1013">
                      <a:moveTo>
                        <a:pt x="177" y="303"/>
                      </a:moveTo>
                      <a:lnTo>
                        <a:pt x="234" y="156"/>
                      </a:lnTo>
                      <a:lnTo>
                        <a:pt x="283" y="26"/>
                      </a:lnTo>
                      <a:lnTo>
                        <a:pt x="291" y="20"/>
                      </a:lnTo>
                      <a:lnTo>
                        <a:pt x="299" y="18"/>
                      </a:lnTo>
                      <a:lnTo>
                        <a:pt x="316" y="17"/>
                      </a:lnTo>
                      <a:lnTo>
                        <a:pt x="539" y="1"/>
                      </a:lnTo>
                      <a:lnTo>
                        <a:pt x="756" y="0"/>
                      </a:lnTo>
                      <a:lnTo>
                        <a:pt x="769" y="2"/>
                      </a:lnTo>
                      <a:lnTo>
                        <a:pt x="774" y="6"/>
                      </a:lnTo>
                      <a:lnTo>
                        <a:pt x="778" y="18"/>
                      </a:lnTo>
                      <a:lnTo>
                        <a:pt x="762" y="110"/>
                      </a:lnTo>
                      <a:lnTo>
                        <a:pt x="728" y="190"/>
                      </a:lnTo>
                      <a:lnTo>
                        <a:pt x="670" y="336"/>
                      </a:lnTo>
                      <a:lnTo>
                        <a:pt x="559" y="586"/>
                      </a:lnTo>
                      <a:lnTo>
                        <a:pt x="463" y="803"/>
                      </a:lnTo>
                      <a:lnTo>
                        <a:pt x="438" y="885"/>
                      </a:lnTo>
                      <a:lnTo>
                        <a:pt x="424" y="941"/>
                      </a:lnTo>
                      <a:lnTo>
                        <a:pt x="408" y="972"/>
                      </a:lnTo>
                      <a:lnTo>
                        <a:pt x="393" y="995"/>
                      </a:lnTo>
                      <a:lnTo>
                        <a:pt x="384" y="1006"/>
                      </a:lnTo>
                      <a:lnTo>
                        <a:pt x="375" y="1012"/>
                      </a:lnTo>
                      <a:lnTo>
                        <a:pt x="362" y="1013"/>
                      </a:lnTo>
                      <a:lnTo>
                        <a:pt x="349" y="1010"/>
                      </a:lnTo>
                      <a:lnTo>
                        <a:pt x="327" y="998"/>
                      </a:lnTo>
                      <a:lnTo>
                        <a:pt x="303" y="981"/>
                      </a:lnTo>
                      <a:lnTo>
                        <a:pt x="281" y="960"/>
                      </a:lnTo>
                      <a:lnTo>
                        <a:pt x="254" y="941"/>
                      </a:lnTo>
                      <a:lnTo>
                        <a:pt x="230" y="923"/>
                      </a:lnTo>
                      <a:lnTo>
                        <a:pt x="11" y="833"/>
                      </a:lnTo>
                      <a:lnTo>
                        <a:pt x="3" y="827"/>
                      </a:lnTo>
                      <a:lnTo>
                        <a:pt x="0" y="819"/>
                      </a:lnTo>
                      <a:lnTo>
                        <a:pt x="2" y="807"/>
                      </a:lnTo>
                      <a:lnTo>
                        <a:pt x="6" y="796"/>
                      </a:lnTo>
                      <a:lnTo>
                        <a:pt x="177" y="303"/>
                      </a:lnTo>
                      <a:close/>
                    </a:path>
                  </a:pathLst>
                </a:custGeom>
                <a:solidFill>
                  <a:srgbClr val="005F5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3344" name="Group 46"/>
              <p:cNvGrpSpPr/>
              <p:nvPr/>
            </p:nvGrpSpPr>
            <p:grpSpPr>
              <a:xfrm>
                <a:off x="1025" y="3691"/>
                <a:ext cx="69" cy="192"/>
                <a:chOff x="1025" y="3691"/>
                <a:chExt cx="69" cy="192"/>
              </a:xfrm>
            </p:grpSpPr>
            <p:sp>
              <p:nvSpPr>
                <p:cNvPr id="13345" name="Freeform 44"/>
                <p:cNvSpPr/>
                <p:nvPr/>
              </p:nvSpPr>
              <p:spPr>
                <a:xfrm>
                  <a:off x="1031" y="3699"/>
                  <a:ext cx="63" cy="184"/>
                </a:xfrm>
                <a:custGeom>
                  <a:avLst/>
                  <a:gdLst>
                    <a:gd name="txL" fmla="*/ 0 w 190"/>
                    <a:gd name="txT" fmla="*/ 0 h 553"/>
                    <a:gd name="txR" fmla="*/ 190 w 190"/>
                    <a:gd name="txB" fmla="*/ 553 h 553"/>
                  </a:gdLst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3"/>
                    </a:cxn>
                    <a:cxn ang="0">
                      <a:pos x="2" y="4"/>
                    </a:cxn>
                    <a:cxn ang="0">
                      <a:pos x="3" y="4"/>
                    </a:cxn>
                    <a:cxn ang="0">
                      <a:pos x="4" y="5"/>
                    </a:cxn>
                    <a:cxn ang="0">
                      <a:pos x="5" y="6"/>
                    </a:cxn>
                    <a:cxn ang="0">
                      <a:pos x="6" y="8"/>
                    </a:cxn>
                    <a:cxn ang="0">
                      <a:pos x="6" y="9"/>
                    </a:cxn>
                    <a:cxn ang="0">
                      <a:pos x="6" y="10"/>
                    </a:cxn>
                    <a:cxn ang="0">
                      <a:pos x="5" y="11"/>
                    </a:cxn>
                    <a:cxn ang="0">
                      <a:pos x="4" y="12"/>
                    </a:cxn>
                    <a:cxn ang="0">
                      <a:pos x="4" y="13"/>
                    </a:cxn>
                    <a:cxn ang="0">
                      <a:pos x="3" y="14"/>
                    </a:cxn>
                    <a:cxn ang="0">
                      <a:pos x="3" y="16"/>
                    </a:cxn>
                    <a:cxn ang="0">
                      <a:pos x="4" y="17"/>
                    </a:cxn>
                    <a:cxn ang="0">
                      <a:pos x="4" y="18"/>
                    </a:cxn>
                    <a:cxn ang="0">
                      <a:pos x="5" y="19"/>
                    </a:cxn>
                    <a:cxn ang="0">
                      <a:pos x="6" y="20"/>
                    </a:cxn>
                    <a:cxn ang="0">
                      <a:pos x="7" y="20"/>
                    </a:cxn>
                  </a:cxnLst>
                  <a:rect l="txL" t="txT" r="txR" b="txB"/>
                  <a:pathLst>
                    <a:path w="190" h="553">
                      <a:moveTo>
                        <a:pt x="0" y="0"/>
                      </a:moveTo>
                      <a:lnTo>
                        <a:pt x="6" y="36"/>
                      </a:lnTo>
                      <a:lnTo>
                        <a:pt x="15" y="64"/>
                      </a:lnTo>
                      <a:lnTo>
                        <a:pt x="31" y="89"/>
                      </a:lnTo>
                      <a:lnTo>
                        <a:pt x="56" y="105"/>
                      </a:lnTo>
                      <a:lnTo>
                        <a:pt x="88" y="117"/>
                      </a:lnTo>
                      <a:lnTo>
                        <a:pt x="112" y="139"/>
                      </a:lnTo>
                      <a:lnTo>
                        <a:pt x="132" y="165"/>
                      </a:lnTo>
                      <a:lnTo>
                        <a:pt x="153" y="210"/>
                      </a:lnTo>
                      <a:lnTo>
                        <a:pt x="160" y="247"/>
                      </a:lnTo>
                      <a:lnTo>
                        <a:pt x="154" y="276"/>
                      </a:lnTo>
                      <a:lnTo>
                        <a:pt x="132" y="303"/>
                      </a:lnTo>
                      <a:lnTo>
                        <a:pt x="113" y="327"/>
                      </a:lnTo>
                      <a:lnTo>
                        <a:pt x="100" y="353"/>
                      </a:lnTo>
                      <a:lnTo>
                        <a:pt x="90" y="385"/>
                      </a:lnTo>
                      <a:lnTo>
                        <a:pt x="85" y="423"/>
                      </a:lnTo>
                      <a:lnTo>
                        <a:pt x="95" y="456"/>
                      </a:lnTo>
                      <a:lnTo>
                        <a:pt x="108" y="479"/>
                      </a:lnTo>
                      <a:lnTo>
                        <a:pt x="137" y="510"/>
                      </a:lnTo>
                      <a:lnTo>
                        <a:pt x="160" y="530"/>
                      </a:lnTo>
                      <a:lnTo>
                        <a:pt x="190" y="553"/>
                      </a:lnTo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6" name="Oval 45"/>
                <p:cNvSpPr/>
                <p:nvPr/>
              </p:nvSpPr>
              <p:spPr>
                <a:xfrm>
                  <a:off x="1025" y="3691"/>
                  <a:ext cx="12" cy="13"/>
                </a:xfrm>
                <a:prstGeom prst="ellipse">
                  <a:avLst/>
                </a:prstGeom>
                <a:solidFill>
                  <a:srgbClr val="000000"/>
                </a:solidFill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336" name="Group 54"/>
            <p:cNvGrpSpPr/>
            <p:nvPr/>
          </p:nvGrpSpPr>
          <p:grpSpPr>
            <a:xfrm>
              <a:off x="244" y="3190"/>
              <a:ext cx="499" cy="841"/>
              <a:chOff x="244" y="3190"/>
              <a:chExt cx="499" cy="841"/>
            </a:xfrm>
          </p:grpSpPr>
          <p:sp>
            <p:nvSpPr>
              <p:cNvPr id="13337" name="Freeform 48"/>
              <p:cNvSpPr/>
              <p:nvPr/>
            </p:nvSpPr>
            <p:spPr>
              <a:xfrm>
                <a:off x="244" y="3570"/>
                <a:ext cx="290" cy="461"/>
              </a:xfrm>
              <a:custGeom>
                <a:avLst/>
                <a:gdLst>
                  <a:gd name="txL" fmla="*/ 0 w 869"/>
                  <a:gd name="txT" fmla="*/ 0 h 1383"/>
                  <a:gd name="txR" fmla="*/ 869 w 869"/>
                  <a:gd name="txB" fmla="*/ 1383 h 1383"/>
                </a:gdLst>
                <a:ahLst/>
                <a:cxnLst>
                  <a:cxn ang="0">
                    <a:pos x="32" y="24"/>
                  </a:cxn>
                  <a:cxn ang="0">
                    <a:pos x="23" y="19"/>
                  </a:cxn>
                  <a:cxn ang="0">
                    <a:pos x="13" y="1"/>
                  </a:cxn>
                  <a:cxn ang="0">
                    <a:pos x="12" y="1"/>
                  </a:cxn>
                  <a:cxn ang="0">
                    <a:pos x="12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9" y="0"/>
                  </a:cxn>
                  <a:cxn ang="0">
                    <a:pos x="8" y="1"/>
                  </a:cxn>
                  <a:cxn ang="0">
                    <a:pos x="7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3"/>
                  </a:cxn>
                  <a:cxn ang="0">
                    <a:pos x="3" y="4"/>
                  </a:cxn>
                  <a:cxn ang="0">
                    <a:pos x="2" y="5"/>
                  </a:cxn>
                  <a:cxn ang="0">
                    <a:pos x="1" y="6"/>
                  </a:cxn>
                  <a:cxn ang="0">
                    <a:pos x="1" y="7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1" y="17"/>
                  </a:cxn>
                  <a:cxn ang="0">
                    <a:pos x="2" y="20"/>
                  </a:cxn>
                  <a:cxn ang="0">
                    <a:pos x="3" y="22"/>
                  </a:cxn>
                  <a:cxn ang="0">
                    <a:pos x="3" y="24"/>
                  </a:cxn>
                  <a:cxn ang="0">
                    <a:pos x="4" y="25"/>
                  </a:cxn>
                  <a:cxn ang="0">
                    <a:pos x="5" y="27"/>
                  </a:cxn>
                  <a:cxn ang="0">
                    <a:pos x="6" y="28"/>
                  </a:cxn>
                  <a:cxn ang="0">
                    <a:pos x="7" y="29"/>
                  </a:cxn>
                  <a:cxn ang="0">
                    <a:pos x="8" y="30"/>
                  </a:cxn>
                  <a:cxn ang="0">
                    <a:pos x="13" y="30"/>
                  </a:cxn>
                  <a:cxn ang="0">
                    <a:pos x="16" y="29"/>
                  </a:cxn>
                  <a:cxn ang="0">
                    <a:pos x="18" y="29"/>
                  </a:cxn>
                  <a:cxn ang="0">
                    <a:pos x="23" y="29"/>
                  </a:cxn>
                  <a:cxn ang="0">
                    <a:pos x="28" y="29"/>
                  </a:cxn>
                  <a:cxn ang="0">
                    <a:pos x="29" y="30"/>
                  </a:cxn>
                  <a:cxn ang="0">
                    <a:pos x="29" y="44"/>
                  </a:cxn>
                  <a:cxn ang="0">
                    <a:pos x="29" y="45"/>
                  </a:cxn>
                  <a:cxn ang="0">
                    <a:pos x="29" y="46"/>
                  </a:cxn>
                  <a:cxn ang="0">
                    <a:pos x="29" y="47"/>
                  </a:cxn>
                  <a:cxn ang="0">
                    <a:pos x="28" y="47"/>
                  </a:cxn>
                  <a:cxn ang="0">
                    <a:pos x="27" y="48"/>
                  </a:cxn>
                  <a:cxn ang="0">
                    <a:pos x="27" y="48"/>
                  </a:cxn>
                  <a:cxn ang="0">
                    <a:pos x="26" y="49"/>
                  </a:cxn>
                  <a:cxn ang="0">
                    <a:pos x="25" y="49"/>
                  </a:cxn>
                  <a:cxn ang="0">
                    <a:pos x="3" y="49"/>
                  </a:cxn>
                  <a:cxn ang="0">
                    <a:pos x="3" y="51"/>
                  </a:cxn>
                  <a:cxn ang="0">
                    <a:pos x="26" y="51"/>
                  </a:cxn>
                  <a:cxn ang="0">
                    <a:pos x="27" y="51"/>
                  </a:cxn>
                  <a:cxn ang="0">
                    <a:pos x="28" y="51"/>
                  </a:cxn>
                  <a:cxn ang="0">
                    <a:pos x="29" y="51"/>
                  </a:cxn>
                  <a:cxn ang="0">
                    <a:pos x="29" y="50"/>
                  </a:cxn>
                  <a:cxn ang="0">
                    <a:pos x="30" y="50"/>
                  </a:cxn>
                  <a:cxn ang="0">
                    <a:pos x="31" y="49"/>
                  </a:cxn>
                  <a:cxn ang="0">
                    <a:pos x="31" y="48"/>
                  </a:cxn>
                  <a:cxn ang="0">
                    <a:pos x="32" y="47"/>
                  </a:cxn>
                  <a:cxn ang="0">
                    <a:pos x="32" y="46"/>
                  </a:cxn>
                  <a:cxn ang="0">
                    <a:pos x="32" y="45"/>
                  </a:cxn>
                  <a:cxn ang="0">
                    <a:pos x="32" y="44"/>
                  </a:cxn>
                  <a:cxn ang="0">
                    <a:pos x="32" y="24"/>
                  </a:cxn>
                </a:cxnLst>
                <a:rect l="txL" t="txT" r="txR" b="txB"/>
                <a:pathLst>
                  <a:path w="869" h="1383">
                    <a:moveTo>
                      <a:pt x="869" y="651"/>
                    </a:moveTo>
                    <a:lnTo>
                      <a:pt x="622" y="511"/>
                    </a:lnTo>
                    <a:lnTo>
                      <a:pt x="349" y="27"/>
                    </a:lnTo>
                    <a:lnTo>
                      <a:pt x="337" y="18"/>
                    </a:lnTo>
                    <a:lnTo>
                      <a:pt x="318" y="9"/>
                    </a:lnTo>
                    <a:lnTo>
                      <a:pt x="296" y="4"/>
                    </a:lnTo>
                    <a:lnTo>
                      <a:pt x="267" y="0"/>
                    </a:lnTo>
                    <a:lnTo>
                      <a:pt x="240" y="4"/>
                    </a:lnTo>
                    <a:lnTo>
                      <a:pt x="215" y="14"/>
                    </a:lnTo>
                    <a:lnTo>
                      <a:pt x="186" y="27"/>
                    </a:lnTo>
                    <a:lnTo>
                      <a:pt x="149" y="46"/>
                    </a:lnTo>
                    <a:lnTo>
                      <a:pt x="117" y="67"/>
                    </a:lnTo>
                    <a:lnTo>
                      <a:pt x="91" y="86"/>
                    </a:lnTo>
                    <a:lnTo>
                      <a:pt x="70" y="105"/>
                    </a:lnTo>
                    <a:lnTo>
                      <a:pt x="51" y="128"/>
                    </a:lnTo>
                    <a:lnTo>
                      <a:pt x="28" y="162"/>
                    </a:lnTo>
                    <a:lnTo>
                      <a:pt x="15" y="188"/>
                    </a:lnTo>
                    <a:lnTo>
                      <a:pt x="2" y="223"/>
                    </a:lnTo>
                    <a:lnTo>
                      <a:pt x="0" y="262"/>
                    </a:lnTo>
                    <a:lnTo>
                      <a:pt x="0" y="322"/>
                    </a:lnTo>
                    <a:lnTo>
                      <a:pt x="7" y="390"/>
                    </a:lnTo>
                    <a:lnTo>
                      <a:pt x="21" y="454"/>
                    </a:lnTo>
                    <a:lnTo>
                      <a:pt x="44" y="532"/>
                    </a:lnTo>
                    <a:lnTo>
                      <a:pt x="68" y="597"/>
                    </a:lnTo>
                    <a:lnTo>
                      <a:pt x="88" y="640"/>
                    </a:lnTo>
                    <a:lnTo>
                      <a:pt x="118" y="686"/>
                    </a:lnTo>
                    <a:lnTo>
                      <a:pt x="141" y="718"/>
                    </a:lnTo>
                    <a:lnTo>
                      <a:pt x="167" y="754"/>
                    </a:lnTo>
                    <a:lnTo>
                      <a:pt x="197" y="791"/>
                    </a:lnTo>
                    <a:lnTo>
                      <a:pt x="225" y="813"/>
                    </a:lnTo>
                    <a:lnTo>
                      <a:pt x="339" y="800"/>
                    </a:lnTo>
                    <a:lnTo>
                      <a:pt x="426" y="771"/>
                    </a:lnTo>
                    <a:lnTo>
                      <a:pt x="481" y="787"/>
                    </a:lnTo>
                    <a:lnTo>
                      <a:pt x="609" y="793"/>
                    </a:lnTo>
                    <a:lnTo>
                      <a:pt x="766" y="771"/>
                    </a:lnTo>
                    <a:lnTo>
                      <a:pt x="789" y="822"/>
                    </a:lnTo>
                    <a:lnTo>
                      <a:pt x="789" y="1186"/>
                    </a:lnTo>
                    <a:lnTo>
                      <a:pt x="785" y="1220"/>
                    </a:lnTo>
                    <a:lnTo>
                      <a:pt x="779" y="1242"/>
                    </a:lnTo>
                    <a:lnTo>
                      <a:pt x="769" y="1265"/>
                    </a:lnTo>
                    <a:lnTo>
                      <a:pt x="755" y="1282"/>
                    </a:lnTo>
                    <a:lnTo>
                      <a:pt x="738" y="1298"/>
                    </a:lnTo>
                    <a:lnTo>
                      <a:pt x="718" y="1308"/>
                    </a:lnTo>
                    <a:lnTo>
                      <a:pt x="702" y="1313"/>
                    </a:lnTo>
                    <a:lnTo>
                      <a:pt x="680" y="1317"/>
                    </a:lnTo>
                    <a:lnTo>
                      <a:pt x="91" y="1316"/>
                    </a:lnTo>
                    <a:lnTo>
                      <a:pt x="91" y="1383"/>
                    </a:lnTo>
                    <a:lnTo>
                      <a:pt x="696" y="1381"/>
                    </a:lnTo>
                    <a:lnTo>
                      <a:pt x="727" y="1380"/>
                    </a:lnTo>
                    <a:lnTo>
                      <a:pt x="747" y="1376"/>
                    </a:lnTo>
                    <a:lnTo>
                      <a:pt x="770" y="1370"/>
                    </a:lnTo>
                    <a:lnTo>
                      <a:pt x="790" y="1362"/>
                    </a:lnTo>
                    <a:lnTo>
                      <a:pt x="809" y="1346"/>
                    </a:lnTo>
                    <a:lnTo>
                      <a:pt x="828" y="1321"/>
                    </a:lnTo>
                    <a:lnTo>
                      <a:pt x="842" y="1298"/>
                    </a:lnTo>
                    <a:lnTo>
                      <a:pt x="854" y="1273"/>
                    </a:lnTo>
                    <a:lnTo>
                      <a:pt x="861" y="1246"/>
                    </a:lnTo>
                    <a:lnTo>
                      <a:pt x="867" y="1214"/>
                    </a:lnTo>
                    <a:lnTo>
                      <a:pt x="869" y="1178"/>
                    </a:lnTo>
                    <a:lnTo>
                      <a:pt x="869" y="651"/>
                    </a:lnTo>
                    <a:close/>
                  </a:path>
                </a:pathLst>
              </a:custGeom>
              <a:solidFill>
                <a:srgbClr val="000080"/>
              </a:soli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338" name="Group 53"/>
              <p:cNvGrpSpPr/>
              <p:nvPr/>
            </p:nvGrpSpPr>
            <p:grpSpPr>
              <a:xfrm>
                <a:off x="302" y="3190"/>
                <a:ext cx="441" cy="836"/>
                <a:chOff x="302" y="3190"/>
                <a:chExt cx="441" cy="836"/>
              </a:xfrm>
            </p:grpSpPr>
            <p:sp>
              <p:nvSpPr>
                <p:cNvPr id="13339" name="Freeform 49"/>
                <p:cNvSpPr/>
                <p:nvPr/>
              </p:nvSpPr>
              <p:spPr>
                <a:xfrm>
                  <a:off x="302" y="3190"/>
                  <a:ext cx="441" cy="836"/>
                </a:xfrm>
                <a:custGeom>
                  <a:avLst/>
                  <a:gdLst>
                    <a:gd name="txL" fmla="*/ 0 w 1323"/>
                    <a:gd name="txT" fmla="*/ 0 h 2507"/>
                    <a:gd name="txR" fmla="*/ 1323 w 1323"/>
                    <a:gd name="txB" fmla="*/ 2507 h 2507"/>
                  </a:gdLst>
                  <a:ahLst/>
                  <a:cxnLst>
                    <a:cxn ang="0">
                      <a:pos x="20" y="6"/>
                    </a:cxn>
                    <a:cxn ang="0">
                      <a:pos x="20" y="6"/>
                    </a:cxn>
                    <a:cxn ang="0">
                      <a:pos x="23" y="7"/>
                    </a:cxn>
                    <a:cxn ang="0">
                      <a:pos x="23" y="0"/>
                    </a:cxn>
                    <a:cxn ang="0">
                      <a:pos x="26" y="5"/>
                    </a:cxn>
                    <a:cxn ang="0">
                      <a:pos x="27" y="1"/>
                    </a:cxn>
                    <a:cxn ang="0">
                      <a:pos x="31" y="0"/>
                    </a:cxn>
                    <a:cxn ang="0">
                      <a:pos x="30" y="4"/>
                    </a:cxn>
                    <a:cxn ang="0">
                      <a:pos x="32" y="2"/>
                    </a:cxn>
                    <a:cxn ang="0">
                      <a:pos x="32" y="4"/>
                    </a:cxn>
                    <a:cxn ang="0">
                      <a:pos x="33" y="8"/>
                    </a:cxn>
                    <a:cxn ang="0">
                      <a:pos x="37" y="3"/>
                    </a:cxn>
                    <a:cxn ang="0">
                      <a:pos x="34" y="7"/>
                    </a:cxn>
                    <a:cxn ang="0">
                      <a:pos x="39" y="4"/>
                    </a:cxn>
                    <a:cxn ang="0">
                      <a:pos x="37" y="8"/>
                    </a:cxn>
                    <a:cxn ang="0">
                      <a:pos x="38" y="10"/>
                    </a:cxn>
                    <a:cxn ang="0">
                      <a:pos x="37" y="14"/>
                    </a:cxn>
                    <a:cxn ang="0">
                      <a:pos x="41" y="19"/>
                    </a:cxn>
                    <a:cxn ang="0">
                      <a:pos x="45" y="25"/>
                    </a:cxn>
                    <a:cxn ang="0">
                      <a:pos x="44" y="27"/>
                    </a:cxn>
                    <a:cxn ang="0">
                      <a:pos x="36" y="32"/>
                    </a:cxn>
                    <a:cxn ang="0">
                      <a:pos x="33" y="38"/>
                    </a:cxn>
                    <a:cxn ang="0">
                      <a:pos x="26" y="36"/>
                    </a:cxn>
                    <a:cxn ang="0">
                      <a:pos x="23" y="47"/>
                    </a:cxn>
                    <a:cxn ang="0">
                      <a:pos x="30" y="53"/>
                    </a:cxn>
                    <a:cxn ang="0">
                      <a:pos x="37" y="54"/>
                    </a:cxn>
                    <a:cxn ang="0">
                      <a:pos x="42" y="54"/>
                    </a:cxn>
                    <a:cxn ang="0">
                      <a:pos x="45" y="53"/>
                    </a:cxn>
                    <a:cxn ang="0">
                      <a:pos x="46" y="56"/>
                    </a:cxn>
                    <a:cxn ang="0">
                      <a:pos x="49" y="58"/>
                    </a:cxn>
                    <a:cxn ang="0">
                      <a:pos x="48" y="60"/>
                    </a:cxn>
                    <a:cxn ang="0">
                      <a:pos x="49" y="62"/>
                    </a:cxn>
                    <a:cxn ang="0">
                      <a:pos x="47" y="64"/>
                    </a:cxn>
                    <a:cxn ang="0">
                      <a:pos x="46" y="66"/>
                    </a:cxn>
                    <a:cxn ang="0">
                      <a:pos x="40" y="63"/>
                    </a:cxn>
                    <a:cxn ang="0">
                      <a:pos x="30" y="61"/>
                    </a:cxn>
                    <a:cxn ang="0">
                      <a:pos x="23" y="60"/>
                    </a:cxn>
                    <a:cxn ang="0">
                      <a:pos x="21" y="57"/>
                    </a:cxn>
                    <a:cxn ang="0">
                      <a:pos x="22" y="59"/>
                    </a:cxn>
                    <a:cxn ang="0">
                      <a:pos x="27" y="60"/>
                    </a:cxn>
                    <a:cxn ang="0">
                      <a:pos x="30" y="63"/>
                    </a:cxn>
                    <a:cxn ang="0">
                      <a:pos x="29" y="66"/>
                    </a:cxn>
                    <a:cxn ang="0">
                      <a:pos x="23" y="72"/>
                    </a:cxn>
                    <a:cxn ang="0">
                      <a:pos x="15" y="77"/>
                    </a:cxn>
                    <a:cxn ang="0">
                      <a:pos x="13" y="85"/>
                    </a:cxn>
                    <a:cxn ang="0">
                      <a:pos x="18" y="92"/>
                    </a:cxn>
                    <a:cxn ang="0">
                      <a:pos x="11" y="92"/>
                    </a:cxn>
                    <a:cxn ang="0">
                      <a:pos x="6" y="92"/>
                    </a:cxn>
                    <a:cxn ang="0">
                      <a:pos x="6" y="80"/>
                    </a:cxn>
                    <a:cxn ang="0">
                      <a:pos x="3" y="77"/>
                    </a:cxn>
                    <a:cxn ang="0">
                      <a:pos x="5" y="74"/>
                    </a:cxn>
                    <a:cxn ang="0">
                      <a:pos x="13" y="71"/>
                    </a:cxn>
                    <a:cxn ang="0">
                      <a:pos x="16" y="65"/>
                    </a:cxn>
                    <a:cxn ang="0">
                      <a:pos x="3" y="64"/>
                    </a:cxn>
                    <a:cxn ang="0">
                      <a:pos x="1" y="63"/>
                    </a:cxn>
                    <a:cxn ang="0">
                      <a:pos x="0" y="58"/>
                    </a:cxn>
                    <a:cxn ang="0">
                      <a:pos x="1" y="54"/>
                    </a:cxn>
                    <a:cxn ang="0">
                      <a:pos x="7" y="39"/>
                    </a:cxn>
                    <a:cxn ang="0">
                      <a:pos x="13" y="29"/>
                    </a:cxn>
                    <a:cxn ang="0">
                      <a:pos x="17" y="20"/>
                    </a:cxn>
                  </a:cxnLst>
                  <a:rect l="txL" t="txT" r="txR" b="txB"/>
                  <a:pathLst>
                    <a:path w="1323" h="2507">
                      <a:moveTo>
                        <a:pt x="453" y="537"/>
                      </a:moveTo>
                      <a:lnTo>
                        <a:pt x="488" y="423"/>
                      </a:lnTo>
                      <a:lnTo>
                        <a:pt x="518" y="289"/>
                      </a:lnTo>
                      <a:lnTo>
                        <a:pt x="533" y="173"/>
                      </a:lnTo>
                      <a:lnTo>
                        <a:pt x="502" y="108"/>
                      </a:lnTo>
                      <a:lnTo>
                        <a:pt x="472" y="76"/>
                      </a:lnTo>
                      <a:lnTo>
                        <a:pt x="518" y="113"/>
                      </a:lnTo>
                      <a:lnTo>
                        <a:pt x="553" y="169"/>
                      </a:lnTo>
                      <a:lnTo>
                        <a:pt x="525" y="40"/>
                      </a:lnTo>
                      <a:lnTo>
                        <a:pt x="550" y="102"/>
                      </a:lnTo>
                      <a:lnTo>
                        <a:pt x="600" y="181"/>
                      </a:lnTo>
                      <a:lnTo>
                        <a:pt x="623" y="191"/>
                      </a:lnTo>
                      <a:lnTo>
                        <a:pt x="607" y="122"/>
                      </a:lnTo>
                      <a:lnTo>
                        <a:pt x="620" y="131"/>
                      </a:lnTo>
                      <a:lnTo>
                        <a:pt x="626" y="73"/>
                      </a:lnTo>
                      <a:lnTo>
                        <a:pt x="609" y="11"/>
                      </a:lnTo>
                      <a:lnTo>
                        <a:pt x="688" y="174"/>
                      </a:lnTo>
                      <a:lnTo>
                        <a:pt x="694" y="148"/>
                      </a:lnTo>
                      <a:lnTo>
                        <a:pt x="705" y="167"/>
                      </a:lnTo>
                      <a:lnTo>
                        <a:pt x="709" y="142"/>
                      </a:lnTo>
                      <a:lnTo>
                        <a:pt x="692" y="101"/>
                      </a:lnTo>
                      <a:lnTo>
                        <a:pt x="696" y="22"/>
                      </a:lnTo>
                      <a:lnTo>
                        <a:pt x="723" y="174"/>
                      </a:lnTo>
                      <a:lnTo>
                        <a:pt x="738" y="37"/>
                      </a:lnTo>
                      <a:lnTo>
                        <a:pt x="738" y="144"/>
                      </a:lnTo>
                      <a:lnTo>
                        <a:pt x="752" y="171"/>
                      </a:lnTo>
                      <a:lnTo>
                        <a:pt x="775" y="50"/>
                      </a:lnTo>
                      <a:lnTo>
                        <a:pt x="826" y="0"/>
                      </a:lnTo>
                      <a:lnTo>
                        <a:pt x="792" y="50"/>
                      </a:lnTo>
                      <a:lnTo>
                        <a:pt x="772" y="145"/>
                      </a:lnTo>
                      <a:lnTo>
                        <a:pt x="779" y="162"/>
                      </a:lnTo>
                      <a:lnTo>
                        <a:pt x="814" y="95"/>
                      </a:lnTo>
                      <a:lnTo>
                        <a:pt x="790" y="152"/>
                      </a:lnTo>
                      <a:lnTo>
                        <a:pt x="790" y="178"/>
                      </a:lnTo>
                      <a:lnTo>
                        <a:pt x="865" y="37"/>
                      </a:lnTo>
                      <a:lnTo>
                        <a:pt x="866" y="61"/>
                      </a:lnTo>
                      <a:lnTo>
                        <a:pt x="832" y="142"/>
                      </a:lnTo>
                      <a:lnTo>
                        <a:pt x="832" y="191"/>
                      </a:lnTo>
                      <a:lnTo>
                        <a:pt x="844" y="198"/>
                      </a:lnTo>
                      <a:lnTo>
                        <a:pt x="861" y="109"/>
                      </a:lnTo>
                      <a:lnTo>
                        <a:pt x="894" y="47"/>
                      </a:lnTo>
                      <a:lnTo>
                        <a:pt x="866" y="116"/>
                      </a:lnTo>
                      <a:lnTo>
                        <a:pt x="873" y="209"/>
                      </a:lnTo>
                      <a:lnTo>
                        <a:pt x="891" y="203"/>
                      </a:lnTo>
                      <a:lnTo>
                        <a:pt x="926" y="82"/>
                      </a:lnTo>
                      <a:lnTo>
                        <a:pt x="901" y="213"/>
                      </a:lnTo>
                      <a:lnTo>
                        <a:pt x="959" y="108"/>
                      </a:lnTo>
                      <a:lnTo>
                        <a:pt x="1006" y="73"/>
                      </a:lnTo>
                      <a:lnTo>
                        <a:pt x="967" y="123"/>
                      </a:lnTo>
                      <a:lnTo>
                        <a:pt x="941" y="178"/>
                      </a:lnTo>
                      <a:lnTo>
                        <a:pt x="985" y="160"/>
                      </a:lnTo>
                      <a:lnTo>
                        <a:pt x="930" y="200"/>
                      </a:lnTo>
                      <a:lnTo>
                        <a:pt x="920" y="242"/>
                      </a:lnTo>
                      <a:lnTo>
                        <a:pt x="938" y="249"/>
                      </a:lnTo>
                      <a:lnTo>
                        <a:pt x="993" y="163"/>
                      </a:lnTo>
                      <a:lnTo>
                        <a:pt x="1060" y="113"/>
                      </a:lnTo>
                      <a:lnTo>
                        <a:pt x="971" y="227"/>
                      </a:lnTo>
                      <a:lnTo>
                        <a:pt x="1014" y="191"/>
                      </a:lnTo>
                      <a:lnTo>
                        <a:pt x="1241" y="155"/>
                      </a:lnTo>
                      <a:lnTo>
                        <a:pt x="1002" y="210"/>
                      </a:lnTo>
                      <a:lnTo>
                        <a:pt x="978" y="250"/>
                      </a:lnTo>
                      <a:lnTo>
                        <a:pt x="1002" y="243"/>
                      </a:lnTo>
                      <a:lnTo>
                        <a:pt x="1071" y="207"/>
                      </a:lnTo>
                      <a:lnTo>
                        <a:pt x="1017" y="261"/>
                      </a:lnTo>
                      <a:lnTo>
                        <a:pt x="973" y="287"/>
                      </a:lnTo>
                      <a:lnTo>
                        <a:pt x="973" y="319"/>
                      </a:lnTo>
                      <a:lnTo>
                        <a:pt x="985" y="345"/>
                      </a:lnTo>
                      <a:lnTo>
                        <a:pt x="1010" y="372"/>
                      </a:lnTo>
                      <a:lnTo>
                        <a:pt x="1039" y="412"/>
                      </a:lnTo>
                      <a:lnTo>
                        <a:pt x="1064" y="446"/>
                      </a:lnTo>
                      <a:lnTo>
                        <a:pt x="1089" y="481"/>
                      </a:lnTo>
                      <a:lnTo>
                        <a:pt x="1112" y="515"/>
                      </a:lnTo>
                      <a:lnTo>
                        <a:pt x="1128" y="541"/>
                      </a:lnTo>
                      <a:lnTo>
                        <a:pt x="1154" y="587"/>
                      </a:lnTo>
                      <a:lnTo>
                        <a:pt x="1182" y="640"/>
                      </a:lnTo>
                      <a:lnTo>
                        <a:pt x="1203" y="686"/>
                      </a:lnTo>
                      <a:lnTo>
                        <a:pt x="1202" y="696"/>
                      </a:lnTo>
                      <a:lnTo>
                        <a:pt x="1197" y="707"/>
                      </a:lnTo>
                      <a:lnTo>
                        <a:pt x="1189" y="714"/>
                      </a:lnTo>
                      <a:lnTo>
                        <a:pt x="1179" y="718"/>
                      </a:lnTo>
                      <a:lnTo>
                        <a:pt x="1163" y="720"/>
                      </a:lnTo>
                      <a:lnTo>
                        <a:pt x="999" y="706"/>
                      </a:lnTo>
                      <a:lnTo>
                        <a:pt x="987" y="740"/>
                      </a:lnTo>
                      <a:lnTo>
                        <a:pt x="964" y="855"/>
                      </a:lnTo>
                      <a:lnTo>
                        <a:pt x="948" y="938"/>
                      </a:lnTo>
                      <a:lnTo>
                        <a:pt x="927" y="1005"/>
                      </a:lnTo>
                      <a:lnTo>
                        <a:pt x="917" y="1011"/>
                      </a:lnTo>
                      <a:lnTo>
                        <a:pt x="902" y="1015"/>
                      </a:lnTo>
                      <a:lnTo>
                        <a:pt x="886" y="1017"/>
                      </a:lnTo>
                      <a:lnTo>
                        <a:pt x="832" y="1016"/>
                      </a:lnTo>
                      <a:lnTo>
                        <a:pt x="703" y="963"/>
                      </a:lnTo>
                      <a:lnTo>
                        <a:pt x="691" y="985"/>
                      </a:lnTo>
                      <a:lnTo>
                        <a:pt x="670" y="1067"/>
                      </a:lnTo>
                      <a:lnTo>
                        <a:pt x="655" y="1131"/>
                      </a:lnTo>
                      <a:lnTo>
                        <a:pt x="635" y="1217"/>
                      </a:lnTo>
                      <a:lnTo>
                        <a:pt x="630" y="1273"/>
                      </a:lnTo>
                      <a:lnTo>
                        <a:pt x="658" y="1311"/>
                      </a:lnTo>
                      <a:lnTo>
                        <a:pt x="693" y="1357"/>
                      </a:lnTo>
                      <a:lnTo>
                        <a:pt x="737" y="1418"/>
                      </a:lnTo>
                      <a:lnTo>
                        <a:pt x="802" y="1434"/>
                      </a:lnTo>
                      <a:lnTo>
                        <a:pt x="853" y="1445"/>
                      </a:lnTo>
                      <a:lnTo>
                        <a:pt x="925" y="1458"/>
                      </a:lnTo>
                      <a:lnTo>
                        <a:pt x="966" y="1465"/>
                      </a:lnTo>
                      <a:lnTo>
                        <a:pt x="1002" y="1468"/>
                      </a:lnTo>
                      <a:lnTo>
                        <a:pt x="1031" y="1471"/>
                      </a:lnTo>
                      <a:lnTo>
                        <a:pt x="1057" y="1471"/>
                      </a:lnTo>
                      <a:lnTo>
                        <a:pt x="1089" y="1468"/>
                      </a:lnTo>
                      <a:lnTo>
                        <a:pt x="1134" y="1465"/>
                      </a:lnTo>
                      <a:lnTo>
                        <a:pt x="1185" y="1438"/>
                      </a:lnTo>
                      <a:lnTo>
                        <a:pt x="1199" y="1432"/>
                      </a:lnTo>
                      <a:lnTo>
                        <a:pt x="1212" y="1433"/>
                      </a:lnTo>
                      <a:lnTo>
                        <a:pt x="1223" y="1439"/>
                      </a:lnTo>
                      <a:lnTo>
                        <a:pt x="1237" y="1453"/>
                      </a:lnTo>
                      <a:lnTo>
                        <a:pt x="1241" y="1464"/>
                      </a:lnTo>
                      <a:lnTo>
                        <a:pt x="1245" y="1484"/>
                      </a:lnTo>
                      <a:lnTo>
                        <a:pt x="1247" y="1505"/>
                      </a:lnTo>
                      <a:lnTo>
                        <a:pt x="1263" y="1513"/>
                      </a:lnTo>
                      <a:lnTo>
                        <a:pt x="1286" y="1526"/>
                      </a:lnTo>
                      <a:lnTo>
                        <a:pt x="1303" y="1538"/>
                      </a:lnTo>
                      <a:lnTo>
                        <a:pt x="1323" y="1555"/>
                      </a:lnTo>
                      <a:lnTo>
                        <a:pt x="1321" y="1567"/>
                      </a:lnTo>
                      <a:lnTo>
                        <a:pt x="1316" y="1584"/>
                      </a:lnTo>
                      <a:lnTo>
                        <a:pt x="1307" y="1595"/>
                      </a:lnTo>
                      <a:lnTo>
                        <a:pt x="1293" y="1606"/>
                      </a:lnTo>
                      <a:lnTo>
                        <a:pt x="1299" y="1616"/>
                      </a:lnTo>
                      <a:lnTo>
                        <a:pt x="1305" y="1631"/>
                      </a:lnTo>
                      <a:lnTo>
                        <a:pt x="1311" y="1650"/>
                      </a:lnTo>
                      <a:lnTo>
                        <a:pt x="1310" y="1665"/>
                      </a:lnTo>
                      <a:lnTo>
                        <a:pt x="1305" y="1683"/>
                      </a:lnTo>
                      <a:lnTo>
                        <a:pt x="1293" y="1693"/>
                      </a:lnTo>
                      <a:lnTo>
                        <a:pt x="1267" y="1709"/>
                      </a:lnTo>
                      <a:lnTo>
                        <a:pt x="1270" y="1734"/>
                      </a:lnTo>
                      <a:lnTo>
                        <a:pt x="1270" y="1748"/>
                      </a:lnTo>
                      <a:lnTo>
                        <a:pt x="1267" y="1758"/>
                      </a:lnTo>
                      <a:lnTo>
                        <a:pt x="1261" y="1765"/>
                      </a:lnTo>
                      <a:lnTo>
                        <a:pt x="1250" y="1770"/>
                      </a:lnTo>
                      <a:lnTo>
                        <a:pt x="1239" y="1767"/>
                      </a:lnTo>
                      <a:lnTo>
                        <a:pt x="1217" y="1759"/>
                      </a:lnTo>
                      <a:lnTo>
                        <a:pt x="1160" y="1737"/>
                      </a:lnTo>
                      <a:lnTo>
                        <a:pt x="1090" y="1709"/>
                      </a:lnTo>
                      <a:lnTo>
                        <a:pt x="993" y="1682"/>
                      </a:lnTo>
                      <a:lnTo>
                        <a:pt x="977" y="1682"/>
                      </a:lnTo>
                      <a:lnTo>
                        <a:pt x="920" y="1667"/>
                      </a:lnTo>
                      <a:lnTo>
                        <a:pt x="808" y="1637"/>
                      </a:lnTo>
                      <a:lnTo>
                        <a:pt x="715" y="1625"/>
                      </a:lnTo>
                      <a:lnTo>
                        <a:pt x="693" y="1627"/>
                      </a:lnTo>
                      <a:lnTo>
                        <a:pt x="645" y="1631"/>
                      </a:lnTo>
                      <a:lnTo>
                        <a:pt x="621" y="1609"/>
                      </a:lnTo>
                      <a:lnTo>
                        <a:pt x="604" y="1595"/>
                      </a:lnTo>
                      <a:lnTo>
                        <a:pt x="593" y="1583"/>
                      </a:lnTo>
                      <a:lnTo>
                        <a:pt x="586" y="1567"/>
                      </a:lnTo>
                      <a:lnTo>
                        <a:pt x="575" y="1548"/>
                      </a:lnTo>
                      <a:lnTo>
                        <a:pt x="519" y="1471"/>
                      </a:lnTo>
                      <a:lnTo>
                        <a:pt x="570" y="1539"/>
                      </a:lnTo>
                      <a:lnTo>
                        <a:pt x="588" y="1566"/>
                      </a:lnTo>
                      <a:lnTo>
                        <a:pt x="595" y="1587"/>
                      </a:lnTo>
                      <a:lnTo>
                        <a:pt x="641" y="1627"/>
                      </a:lnTo>
                      <a:lnTo>
                        <a:pt x="664" y="1632"/>
                      </a:lnTo>
                      <a:lnTo>
                        <a:pt x="696" y="1626"/>
                      </a:lnTo>
                      <a:lnTo>
                        <a:pt x="717" y="1627"/>
                      </a:lnTo>
                      <a:lnTo>
                        <a:pt x="757" y="1643"/>
                      </a:lnTo>
                      <a:lnTo>
                        <a:pt x="779" y="1661"/>
                      </a:lnTo>
                      <a:lnTo>
                        <a:pt x="799" y="1678"/>
                      </a:lnTo>
                      <a:lnTo>
                        <a:pt x="820" y="1703"/>
                      </a:lnTo>
                      <a:lnTo>
                        <a:pt x="828" y="1719"/>
                      </a:lnTo>
                      <a:lnTo>
                        <a:pt x="826" y="1735"/>
                      </a:lnTo>
                      <a:lnTo>
                        <a:pt x="813" y="1757"/>
                      </a:lnTo>
                      <a:lnTo>
                        <a:pt x="796" y="1781"/>
                      </a:lnTo>
                      <a:lnTo>
                        <a:pt x="762" y="1817"/>
                      </a:lnTo>
                      <a:lnTo>
                        <a:pt x="713" y="1866"/>
                      </a:lnTo>
                      <a:lnTo>
                        <a:pt x="680" y="1903"/>
                      </a:lnTo>
                      <a:lnTo>
                        <a:pt x="611" y="1946"/>
                      </a:lnTo>
                      <a:lnTo>
                        <a:pt x="510" y="2005"/>
                      </a:lnTo>
                      <a:lnTo>
                        <a:pt x="438" y="2043"/>
                      </a:lnTo>
                      <a:lnTo>
                        <a:pt x="420" y="2063"/>
                      </a:lnTo>
                      <a:lnTo>
                        <a:pt x="400" y="2085"/>
                      </a:lnTo>
                      <a:lnTo>
                        <a:pt x="362" y="2114"/>
                      </a:lnTo>
                      <a:lnTo>
                        <a:pt x="354" y="2155"/>
                      </a:lnTo>
                      <a:lnTo>
                        <a:pt x="354" y="2232"/>
                      </a:lnTo>
                      <a:lnTo>
                        <a:pt x="361" y="2296"/>
                      </a:lnTo>
                      <a:lnTo>
                        <a:pt x="373" y="2340"/>
                      </a:lnTo>
                      <a:lnTo>
                        <a:pt x="437" y="2423"/>
                      </a:lnTo>
                      <a:lnTo>
                        <a:pt x="476" y="2460"/>
                      </a:lnTo>
                      <a:lnTo>
                        <a:pt x="479" y="2470"/>
                      </a:lnTo>
                      <a:lnTo>
                        <a:pt x="477" y="2482"/>
                      </a:lnTo>
                      <a:lnTo>
                        <a:pt x="406" y="2507"/>
                      </a:lnTo>
                      <a:lnTo>
                        <a:pt x="329" y="2497"/>
                      </a:lnTo>
                      <a:lnTo>
                        <a:pt x="288" y="2495"/>
                      </a:lnTo>
                      <a:lnTo>
                        <a:pt x="248" y="2501"/>
                      </a:lnTo>
                      <a:lnTo>
                        <a:pt x="209" y="2501"/>
                      </a:lnTo>
                      <a:lnTo>
                        <a:pt x="169" y="2493"/>
                      </a:lnTo>
                      <a:lnTo>
                        <a:pt x="164" y="2487"/>
                      </a:lnTo>
                      <a:lnTo>
                        <a:pt x="158" y="2475"/>
                      </a:lnTo>
                      <a:lnTo>
                        <a:pt x="163" y="2344"/>
                      </a:lnTo>
                      <a:lnTo>
                        <a:pt x="182" y="2211"/>
                      </a:lnTo>
                      <a:lnTo>
                        <a:pt x="167" y="2168"/>
                      </a:lnTo>
                      <a:lnTo>
                        <a:pt x="140" y="2129"/>
                      </a:lnTo>
                      <a:lnTo>
                        <a:pt x="129" y="2118"/>
                      </a:lnTo>
                      <a:lnTo>
                        <a:pt x="108" y="2097"/>
                      </a:lnTo>
                      <a:lnTo>
                        <a:pt x="93" y="2085"/>
                      </a:lnTo>
                      <a:lnTo>
                        <a:pt x="91" y="2071"/>
                      </a:lnTo>
                      <a:lnTo>
                        <a:pt x="93" y="2058"/>
                      </a:lnTo>
                      <a:lnTo>
                        <a:pt x="112" y="2034"/>
                      </a:lnTo>
                      <a:lnTo>
                        <a:pt x="140" y="2009"/>
                      </a:lnTo>
                      <a:lnTo>
                        <a:pt x="164" y="1991"/>
                      </a:lnTo>
                      <a:lnTo>
                        <a:pt x="198" y="1990"/>
                      </a:lnTo>
                      <a:lnTo>
                        <a:pt x="228" y="1992"/>
                      </a:lnTo>
                      <a:lnTo>
                        <a:pt x="360" y="1905"/>
                      </a:lnTo>
                      <a:lnTo>
                        <a:pt x="460" y="1840"/>
                      </a:lnTo>
                      <a:lnTo>
                        <a:pt x="551" y="1787"/>
                      </a:lnTo>
                      <a:lnTo>
                        <a:pt x="522" y="1792"/>
                      </a:lnTo>
                      <a:lnTo>
                        <a:pt x="434" y="1766"/>
                      </a:lnTo>
                      <a:lnTo>
                        <a:pt x="344" y="1760"/>
                      </a:lnTo>
                      <a:lnTo>
                        <a:pt x="221" y="1741"/>
                      </a:lnTo>
                      <a:lnTo>
                        <a:pt x="182" y="1748"/>
                      </a:lnTo>
                      <a:lnTo>
                        <a:pt x="92" y="1737"/>
                      </a:lnTo>
                      <a:lnTo>
                        <a:pt x="71" y="1732"/>
                      </a:lnTo>
                      <a:lnTo>
                        <a:pt x="50" y="1724"/>
                      </a:lnTo>
                      <a:lnTo>
                        <a:pt x="33" y="1713"/>
                      </a:lnTo>
                      <a:lnTo>
                        <a:pt x="22" y="1700"/>
                      </a:lnTo>
                      <a:lnTo>
                        <a:pt x="12" y="1677"/>
                      </a:lnTo>
                      <a:lnTo>
                        <a:pt x="5" y="1645"/>
                      </a:lnTo>
                      <a:lnTo>
                        <a:pt x="1" y="1616"/>
                      </a:lnTo>
                      <a:lnTo>
                        <a:pt x="0" y="1577"/>
                      </a:lnTo>
                      <a:lnTo>
                        <a:pt x="3" y="1544"/>
                      </a:lnTo>
                      <a:lnTo>
                        <a:pt x="6" y="1508"/>
                      </a:lnTo>
                      <a:lnTo>
                        <a:pt x="11" y="1476"/>
                      </a:lnTo>
                      <a:lnTo>
                        <a:pt x="21" y="1452"/>
                      </a:lnTo>
                      <a:lnTo>
                        <a:pt x="52" y="1359"/>
                      </a:lnTo>
                      <a:lnTo>
                        <a:pt x="87" y="1247"/>
                      </a:lnTo>
                      <a:lnTo>
                        <a:pt x="112" y="1172"/>
                      </a:lnTo>
                      <a:lnTo>
                        <a:pt x="178" y="1046"/>
                      </a:lnTo>
                      <a:lnTo>
                        <a:pt x="243" y="947"/>
                      </a:lnTo>
                      <a:lnTo>
                        <a:pt x="298" y="872"/>
                      </a:lnTo>
                      <a:lnTo>
                        <a:pt x="335" y="823"/>
                      </a:lnTo>
                      <a:lnTo>
                        <a:pt x="361" y="778"/>
                      </a:lnTo>
                      <a:lnTo>
                        <a:pt x="393" y="740"/>
                      </a:lnTo>
                      <a:lnTo>
                        <a:pt x="400" y="682"/>
                      </a:lnTo>
                      <a:lnTo>
                        <a:pt x="431" y="604"/>
                      </a:lnTo>
                      <a:lnTo>
                        <a:pt x="453" y="537"/>
                      </a:lnTo>
                      <a:close/>
                    </a:path>
                  </a:pathLst>
                </a:custGeom>
                <a:solidFill>
                  <a:srgbClr val="DFD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3340" name="Group 52"/>
                <p:cNvGrpSpPr/>
                <p:nvPr/>
              </p:nvGrpSpPr>
              <p:grpSpPr>
                <a:xfrm>
                  <a:off x="561" y="3293"/>
                  <a:ext cx="56" cy="76"/>
                  <a:chOff x="561" y="3293"/>
                  <a:chExt cx="56" cy="76"/>
                </a:xfrm>
              </p:grpSpPr>
              <p:sp>
                <p:nvSpPr>
                  <p:cNvPr id="13341" name="Freeform 50"/>
                  <p:cNvSpPr/>
                  <p:nvPr/>
                </p:nvSpPr>
                <p:spPr>
                  <a:xfrm>
                    <a:off x="561" y="3293"/>
                    <a:ext cx="56" cy="27"/>
                  </a:xfrm>
                  <a:custGeom>
                    <a:avLst/>
                    <a:gdLst>
                      <a:gd name="txL" fmla="*/ 0 w 169"/>
                      <a:gd name="txT" fmla="*/ 0 h 82"/>
                      <a:gd name="txR" fmla="*/ 169 w 169"/>
                      <a:gd name="txB" fmla="*/ 82 h 82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1" y="1"/>
                      </a:cxn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3" y="0"/>
                      </a:cxn>
                      <a:cxn ang="0">
                        <a:pos x="3" y="0"/>
                      </a:cxn>
                      <a:cxn ang="0">
                        <a:pos x="4" y="0"/>
                      </a:cxn>
                      <a:cxn ang="0">
                        <a:pos x="4" y="0"/>
                      </a:cxn>
                      <a:cxn ang="0">
                        <a:pos x="4" y="1"/>
                      </a:cxn>
                      <a:cxn ang="0">
                        <a:pos x="5" y="1"/>
                      </a:cxn>
                      <a:cxn ang="0">
                        <a:pos x="5" y="2"/>
                      </a:cxn>
                      <a:cxn ang="0">
                        <a:pos x="5" y="2"/>
                      </a:cxn>
                      <a:cxn ang="0">
                        <a:pos x="6" y="3"/>
                      </a:cxn>
                      <a:cxn ang="0">
                        <a:pos x="6" y="3"/>
                      </a:cxn>
                    </a:cxnLst>
                    <a:rect l="txL" t="txT" r="txR" b="txB"/>
                    <a:pathLst>
                      <a:path w="169" h="82">
                        <a:moveTo>
                          <a:pt x="0" y="27"/>
                        </a:moveTo>
                        <a:lnTo>
                          <a:pt x="21" y="17"/>
                        </a:lnTo>
                        <a:lnTo>
                          <a:pt x="41" y="9"/>
                        </a:lnTo>
                        <a:lnTo>
                          <a:pt x="58" y="4"/>
                        </a:lnTo>
                        <a:lnTo>
                          <a:pt x="74" y="2"/>
                        </a:lnTo>
                        <a:lnTo>
                          <a:pt x="88" y="0"/>
                        </a:lnTo>
                        <a:lnTo>
                          <a:pt x="102" y="4"/>
                        </a:lnTo>
                        <a:lnTo>
                          <a:pt x="108" y="12"/>
                        </a:lnTo>
                        <a:lnTo>
                          <a:pt x="115" y="26"/>
                        </a:lnTo>
                        <a:lnTo>
                          <a:pt x="123" y="39"/>
                        </a:lnTo>
                        <a:lnTo>
                          <a:pt x="133" y="55"/>
                        </a:lnTo>
                        <a:lnTo>
                          <a:pt x="140" y="67"/>
                        </a:lnTo>
                        <a:lnTo>
                          <a:pt x="152" y="78"/>
                        </a:lnTo>
                        <a:lnTo>
                          <a:pt x="169" y="82"/>
                        </a:lnTo>
                      </a:path>
                    </a:pathLst>
                  </a:custGeom>
                  <a:noFill/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42" name="Freeform 51"/>
                  <p:cNvSpPr/>
                  <p:nvPr/>
                </p:nvSpPr>
                <p:spPr>
                  <a:xfrm>
                    <a:off x="599" y="3324"/>
                    <a:ext cx="17" cy="45"/>
                  </a:xfrm>
                  <a:custGeom>
                    <a:avLst/>
                    <a:gdLst>
                      <a:gd name="txL" fmla="*/ 0 w 53"/>
                      <a:gd name="txT" fmla="*/ 0 h 134"/>
                      <a:gd name="txR" fmla="*/ 53 w 53"/>
                      <a:gd name="txB" fmla="*/ 134 h 134"/>
                    </a:gdLst>
                    <a:ahLst/>
                    <a:cxnLst>
                      <a:cxn ang="0">
                        <a:pos x="2" y="0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  <a:cxn ang="0">
                        <a:pos x="0" y="1"/>
                      </a:cxn>
                      <a:cxn ang="0">
                        <a:pos x="0" y="2"/>
                      </a:cxn>
                      <a:cxn ang="0">
                        <a:pos x="0" y="3"/>
                      </a:cxn>
                      <a:cxn ang="0">
                        <a:pos x="0" y="3"/>
                      </a:cxn>
                      <a:cxn ang="0">
                        <a:pos x="0" y="4"/>
                      </a:cxn>
                      <a:cxn ang="0">
                        <a:pos x="0" y="5"/>
                      </a:cxn>
                      <a:cxn ang="0">
                        <a:pos x="0" y="5"/>
                      </a:cxn>
                      <a:cxn ang="0">
                        <a:pos x="1" y="5"/>
                      </a:cxn>
                      <a:cxn ang="0">
                        <a:pos x="1" y="4"/>
                      </a:cxn>
                      <a:cxn ang="0">
                        <a:pos x="1" y="4"/>
                      </a:cxn>
                      <a:cxn ang="0">
                        <a:pos x="1" y="3"/>
                      </a:cxn>
                      <a:cxn ang="0">
                        <a:pos x="1" y="3"/>
                      </a:cxn>
                      <a:cxn ang="0">
                        <a:pos x="2" y="2"/>
                      </a:cxn>
                      <a:cxn ang="0">
                        <a:pos x="2" y="2"/>
                      </a:cxn>
                      <a:cxn ang="0">
                        <a:pos x="2" y="1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txL" t="txT" r="txR" b="txB"/>
                    <a:pathLst>
                      <a:path w="53" h="134">
                        <a:moveTo>
                          <a:pt x="47" y="0"/>
                        </a:moveTo>
                        <a:lnTo>
                          <a:pt x="36" y="8"/>
                        </a:lnTo>
                        <a:lnTo>
                          <a:pt x="25" y="21"/>
                        </a:lnTo>
                        <a:lnTo>
                          <a:pt x="14" y="37"/>
                        </a:lnTo>
                        <a:lnTo>
                          <a:pt x="7" y="53"/>
                        </a:lnTo>
                        <a:lnTo>
                          <a:pt x="2" y="70"/>
                        </a:lnTo>
                        <a:lnTo>
                          <a:pt x="0" y="88"/>
                        </a:lnTo>
                        <a:lnTo>
                          <a:pt x="0" y="105"/>
                        </a:lnTo>
                        <a:lnTo>
                          <a:pt x="3" y="125"/>
                        </a:lnTo>
                        <a:lnTo>
                          <a:pt x="7" y="134"/>
                        </a:lnTo>
                        <a:lnTo>
                          <a:pt x="17" y="126"/>
                        </a:lnTo>
                        <a:lnTo>
                          <a:pt x="24" y="116"/>
                        </a:lnTo>
                        <a:lnTo>
                          <a:pt x="32" y="104"/>
                        </a:lnTo>
                        <a:lnTo>
                          <a:pt x="38" y="93"/>
                        </a:lnTo>
                        <a:lnTo>
                          <a:pt x="44" y="79"/>
                        </a:lnTo>
                        <a:lnTo>
                          <a:pt x="48" y="64"/>
                        </a:lnTo>
                        <a:lnTo>
                          <a:pt x="52" y="45"/>
                        </a:lnTo>
                        <a:lnTo>
                          <a:pt x="53" y="30"/>
                        </a:lnTo>
                        <a:lnTo>
                          <a:pt x="51" y="14"/>
                        </a:lnTo>
                        <a:lnTo>
                          <a:pt x="47" y="0"/>
                        </a:lnTo>
                        <a:close/>
                      </a:path>
                    </a:pathLst>
                  </a:custGeom>
                  <a:solidFill>
                    <a:srgbClr val="DFDFFF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grpSp>
        <p:nvGrpSpPr>
          <p:cNvPr id="18" name="Group 77"/>
          <p:cNvGrpSpPr/>
          <p:nvPr/>
        </p:nvGrpSpPr>
        <p:grpSpPr>
          <a:xfrm>
            <a:off x="1075373" y="1862138"/>
            <a:ext cx="7473950" cy="644525"/>
            <a:chOff x="432" y="720"/>
            <a:chExt cx="4708" cy="406"/>
          </a:xfrm>
        </p:grpSpPr>
        <p:grpSp>
          <p:nvGrpSpPr>
            <p:cNvPr id="22547" name="Group 78"/>
            <p:cNvGrpSpPr/>
            <p:nvPr/>
          </p:nvGrpSpPr>
          <p:grpSpPr>
            <a:xfrm rot="-5400000">
              <a:off x="538" y="614"/>
              <a:ext cx="268" cy="480"/>
              <a:chOff x="2439" y="2303"/>
              <a:chExt cx="364" cy="694"/>
            </a:xfrm>
          </p:grpSpPr>
          <p:sp>
            <p:nvSpPr>
              <p:cNvPr id="22549" name="Freeform 79"/>
              <p:cNvSpPr/>
              <p:nvPr/>
            </p:nvSpPr>
            <p:spPr>
              <a:xfrm>
                <a:off x="2439" y="2303"/>
                <a:ext cx="355" cy="689"/>
              </a:xfrm>
              <a:custGeom>
                <a:avLst/>
                <a:gdLst>
                  <a:gd name="txL" fmla="*/ 0 w 1066"/>
                  <a:gd name="txT" fmla="*/ 0 h 2069"/>
                  <a:gd name="txR" fmla="*/ 1066 w 1066"/>
                  <a:gd name="txB" fmla="*/ 2069 h 2069"/>
                </a:gdLst>
                <a:ahLst/>
                <a:cxnLst>
                  <a:cxn ang="0">
                    <a:pos x="14" y="0"/>
                  </a:cxn>
                  <a:cxn ang="0">
                    <a:pos x="26" y="0"/>
                  </a:cxn>
                  <a:cxn ang="0">
                    <a:pos x="24" y="3"/>
                  </a:cxn>
                  <a:cxn ang="0">
                    <a:pos x="17" y="3"/>
                  </a:cxn>
                  <a:cxn ang="0">
                    <a:pos x="14" y="8"/>
                  </a:cxn>
                  <a:cxn ang="0">
                    <a:pos x="26" y="8"/>
                  </a:cxn>
                  <a:cxn ang="0">
                    <a:pos x="24" y="3"/>
                  </a:cxn>
                  <a:cxn ang="0">
                    <a:pos x="26" y="0"/>
                  </a:cxn>
                  <a:cxn ang="0">
                    <a:pos x="30" y="7"/>
                  </a:cxn>
                  <a:cxn ang="0">
                    <a:pos x="33" y="7"/>
                  </a:cxn>
                  <a:cxn ang="0">
                    <a:pos x="33" y="10"/>
                  </a:cxn>
                  <a:cxn ang="0">
                    <a:pos x="37" y="10"/>
                  </a:cxn>
                  <a:cxn ang="0">
                    <a:pos x="37" y="12"/>
                  </a:cxn>
                  <a:cxn ang="0">
                    <a:pos x="38" y="12"/>
                  </a:cxn>
                  <a:cxn ang="0">
                    <a:pos x="39" y="12"/>
                  </a:cxn>
                  <a:cxn ang="0">
                    <a:pos x="39" y="22"/>
                  </a:cxn>
                  <a:cxn ang="0">
                    <a:pos x="37" y="22"/>
                  </a:cxn>
                  <a:cxn ang="0">
                    <a:pos x="37" y="25"/>
                  </a:cxn>
                  <a:cxn ang="0">
                    <a:pos x="33" y="25"/>
                  </a:cxn>
                  <a:cxn ang="0">
                    <a:pos x="32" y="27"/>
                  </a:cxn>
                  <a:cxn ang="0">
                    <a:pos x="31" y="27"/>
                  </a:cxn>
                  <a:cxn ang="0">
                    <a:pos x="30" y="33"/>
                  </a:cxn>
                  <a:cxn ang="0">
                    <a:pos x="29" y="33"/>
                  </a:cxn>
                  <a:cxn ang="0">
                    <a:pos x="29" y="34"/>
                  </a:cxn>
                  <a:cxn ang="0">
                    <a:pos x="29" y="39"/>
                  </a:cxn>
                  <a:cxn ang="0">
                    <a:pos x="27" y="39"/>
                  </a:cxn>
                  <a:cxn ang="0">
                    <a:pos x="27" y="72"/>
                  </a:cxn>
                  <a:cxn ang="0">
                    <a:pos x="22" y="76"/>
                  </a:cxn>
                  <a:cxn ang="0">
                    <a:pos x="15" y="71"/>
                  </a:cxn>
                  <a:cxn ang="0">
                    <a:pos x="17" y="69"/>
                  </a:cxn>
                  <a:cxn ang="0">
                    <a:pos x="17" y="67"/>
                  </a:cxn>
                  <a:cxn ang="0">
                    <a:pos x="15" y="66"/>
                  </a:cxn>
                  <a:cxn ang="0">
                    <a:pos x="17" y="64"/>
                  </a:cxn>
                  <a:cxn ang="0">
                    <a:pos x="17" y="64"/>
                  </a:cxn>
                  <a:cxn ang="0">
                    <a:pos x="15" y="62"/>
                  </a:cxn>
                  <a:cxn ang="0">
                    <a:pos x="14" y="58"/>
                  </a:cxn>
                  <a:cxn ang="0">
                    <a:pos x="14" y="58"/>
                  </a:cxn>
                  <a:cxn ang="0">
                    <a:pos x="17" y="55"/>
                  </a:cxn>
                  <a:cxn ang="0">
                    <a:pos x="17" y="53"/>
                  </a:cxn>
                  <a:cxn ang="0">
                    <a:pos x="15" y="51"/>
                  </a:cxn>
                  <a:cxn ang="0">
                    <a:pos x="17" y="48"/>
                  </a:cxn>
                  <a:cxn ang="0">
                    <a:pos x="17" y="46"/>
                  </a:cxn>
                  <a:cxn ang="0">
                    <a:pos x="15" y="43"/>
                  </a:cxn>
                  <a:cxn ang="0">
                    <a:pos x="14" y="39"/>
                  </a:cxn>
                  <a:cxn ang="0">
                    <a:pos x="11" y="39"/>
                  </a:cxn>
                  <a:cxn ang="0">
                    <a:pos x="11" y="33"/>
                  </a:cxn>
                  <a:cxn ang="0">
                    <a:pos x="10" y="33"/>
                  </a:cxn>
                  <a:cxn ang="0">
                    <a:pos x="10" y="27"/>
                  </a:cxn>
                  <a:cxn ang="0">
                    <a:pos x="8" y="27"/>
                  </a:cxn>
                  <a:cxn ang="0">
                    <a:pos x="7" y="24"/>
                  </a:cxn>
                  <a:cxn ang="0">
                    <a:pos x="3" y="24"/>
                  </a:cxn>
                  <a:cxn ang="0">
                    <a:pos x="3" y="22"/>
                  </a:cxn>
                  <a:cxn ang="0">
                    <a:pos x="0" y="22"/>
                  </a:cxn>
                  <a:cxn ang="0">
                    <a:pos x="0" y="11"/>
                  </a:cxn>
                  <a:cxn ang="0">
                    <a:pos x="3" y="11"/>
                  </a:cxn>
                  <a:cxn ang="0">
                    <a:pos x="3" y="10"/>
                  </a:cxn>
                  <a:cxn ang="0">
                    <a:pos x="6" y="10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0" y="7"/>
                  </a:cxn>
                  <a:cxn ang="0">
                    <a:pos x="14" y="0"/>
                  </a:cxn>
                </a:cxnLst>
                <a:rect l="txL" t="txT" r="txR" b="txB"/>
                <a:pathLst>
                  <a:path w="1066" h="2069">
                    <a:moveTo>
                      <a:pt x="383" y="0"/>
                    </a:moveTo>
                    <a:lnTo>
                      <a:pt x="705" y="0"/>
                    </a:lnTo>
                    <a:lnTo>
                      <a:pt x="644" y="80"/>
                    </a:lnTo>
                    <a:lnTo>
                      <a:pt x="456" y="80"/>
                    </a:lnTo>
                    <a:lnTo>
                      <a:pt x="385" y="206"/>
                    </a:lnTo>
                    <a:lnTo>
                      <a:pt x="708" y="206"/>
                    </a:lnTo>
                    <a:lnTo>
                      <a:pt x="643" y="81"/>
                    </a:lnTo>
                    <a:lnTo>
                      <a:pt x="705" y="2"/>
                    </a:lnTo>
                    <a:lnTo>
                      <a:pt x="818" y="198"/>
                    </a:lnTo>
                    <a:lnTo>
                      <a:pt x="879" y="199"/>
                    </a:lnTo>
                    <a:lnTo>
                      <a:pt x="900" y="266"/>
                    </a:lnTo>
                    <a:lnTo>
                      <a:pt x="995" y="266"/>
                    </a:lnTo>
                    <a:lnTo>
                      <a:pt x="997" y="313"/>
                    </a:lnTo>
                    <a:lnTo>
                      <a:pt x="1033" y="314"/>
                    </a:lnTo>
                    <a:lnTo>
                      <a:pt x="1066" y="314"/>
                    </a:lnTo>
                    <a:lnTo>
                      <a:pt x="1066" y="603"/>
                    </a:lnTo>
                    <a:lnTo>
                      <a:pt x="995" y="605"/>
                    </a:lnTo>
                    <a:lnTo>
                      <a:pt x="994" y="666"/>
                    </a:lnTo>
                    <a:lnTo>
                      <a:pt x="903" y="666"/>
                    </a:lnTo>
                    <a:lnTo>
                      <a:pt x="877" y="738"/>
                    </a:lnTo>
                    <a:lnTo>
                      <a:pt x="828" y="739"/>
                    </a:lnTo>
                    <a:lnTo>
                      <a:pt x="824" y="885"/>
                    </a:lnTo>
                    <a:lnTo>
                      <a:pt x="790" y="885"/>
                    </a:lnTo>
                    <a:lnTo>
                      <a:pt x="779" y="908"/>
                    </a:lnTo>
                    <a:lnTo>
                      <a:pt x="779" y="1054"/>
                    </a:lnTo>
                    <a:lnTo>
                      <a:pt x="720" y="1055"/>
                    </a:lnTo>
                    <a:lnTo>
                      <a:pt x="723" y="1937"/>
                    </a:lnTo>
                    <a:lnTo>
                      <a:pt x="582" y="2069"/>
                    </a:lnTo>
                    <a:lnTo>
                      <a:pt x="400" y="1917"/>
                    </a:lnTo>
                    <a:lnTo>
                      <a:pt x="465" y="1873"/>
                    </a:lnTo>
                    <a:lnTo>
                      <a:pt x="465" y="1822"/>
                    </a:lnTo>
                    <a:lnTo>
                      <a:pt x="400" y="1776"/>
                    </a:lnTo>
                    <a:lnTo>
                      <a:pt x="465" y="1737"/>
                    </a:lnTo>
                    <a:lnTo>
                      <a:pt x="455" y="1721"/>
                    </a:lnTo>
                    <a:lnTo>
                      <a:pt x="399" y="1685"/>
                    </a:lnTo>
                    <a:lnTo>
                      <a:pt x="389" y="1570"/>
                    </a:lnTo>
                    <a:lnTo>
                      <a:pt x="382" y="1559"/>
                    </a:lnTo>
                    <a:lnTo>
                      <a:pt x="466" y="1493"/>
                    </a:lnTo>
                    <a:lnTo>
                      <a:pt x="466" y="1436"/>
                    </a:lnTo>
                    <a:lnTo>
                      <a:pt x="399" y="1369"/>
                    </a:lnTo>
                    <a:lnTo>
                      <a:pt x="465" y="1310"/>
                    </a:lnTo>
                    <a:lnTo>
                      <a:pt x="465" y="1250"/>
                    </a:lnTo>
                    <a:lnTo>
                      <a:pt x="400" y="1173"/>
                    </a:lnTo>
                    <a:lnTo>
                      <a:pt x="388" y="1048"/>
                    </a:lnTo>
                    <a:lnTo>
                      <a:pt x="310" y="1048"/>
                    </a:lnTo>
                    <a:lnTo>
                      <a:pt x="310" y="879"/>
                    </a:lnTo>
                    <a:lnTo>
                      <a:pt x="262" y="879"/>
                    </a:lnTo>
                    <a:lnTo>
                      <a:pt x="262" y="731"/>
                    </a:lnTo>
                    <a:lnTo>
                      <a:pt x="210" y="731"/>
                    </a:lnTo>
                    <a:lnTo>
                      <a:pt x="187" y="661"/>
                    </a:lnTo>
                    <a:lnTo>
                      <a:pt x="81" y="661"/>
                    </a:lnTo>
                    <a:lnTo>
                      <a:pt x="81" y="599"/>
                    </a:lnTo>
                    <a:lnTo>
                      <a:pt x="0" y="599"/>
                    </a:lnTo>
                    <a:lnTo>
                      <a:pt x="0" y="307"/>
                    </a:lnTo>
                    <a:lnTo>
                      <a:pt x="80" y="307"/>
                    </a:lnTo>
                    <a:lnTo>
                      <a:pt x="80" y="265"/>
                    </a:lnTo>
                    <a:lnTo>
                      <a:pt x="169" y="265"/>
                    </a:lnTo>
                    <a:lnTo>
                      <a:pt x="190" y="246"/>
                    </a:lnTo>
                    <a:lnTo>
                      <a:pt x="211" y="199"/>
                    </a:lnTo>
                    <a:lnTo>
                      <a:pt x="262" y="199"/>
                    </a:lnTo>
                    <a:lnTo>
                      <a:pt x="383" y="0"/>
                    </a:lnTo>
                    <a:close/>
                  </a:path>
                </a:pathLst>
              </a:custGeom>
              <a:solidFill>
                <a:srgbClr val="FF9F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0" name="Freeform 80"/>
              <p:cNvSpPr/>
              <p:nvPr/>
            </p:nvSpPr>
            <p:spPr>
              <a:xfrm>
                <a:off x="2447" y="2306"/>
                <a:ext cx="356" cy="691"/>
              </a:xfrm>
              <a:custGeom>
                <a:avLst/>
                <a:gdLst>
                  <a:gd name="txL" fmla="*/ 0 w 1068"/>
                  <a:gd name="txT" fmla="*/ 0 h 2071"/>
                  <a:gd name="txR" fmla="*/ 1068 w 1068"/>
                  <a:gd name="txB" fmla="*/ 2071 h 2071"/>
                </a:gdLst>
                <a:ahLst/>
                <a:cxnLst>
                  <a:cxn ang="0">
                    <a:pos x="14" y="0"/>
                  </a:cxn>
                  <a:cxn ang="0">
                    <a:pos x="26" y="0"/>
                  </a:cxn>
                  <a:cxn ang="0">
                    <a:pos x="24" y="3"/>
                  </a:cxn>
                  <a:cxn ang="0">
                    <a:pos x="17" y="3"/>
                  </a:cxn>
                  <a:cxn ang="0">
                    <a:pos x="14" y="8"/>
                  </a:cxn>
                  <a:cxn ang="0">
                    <a:pos x="26" y="8"/>
                  </a:cxn>
                  <a:cxn ang="0">
                    <a:pos x="24" y="3"/>
                  </a:cxn>
                  <a:cxn ang="0">
                    <a:pos x="26" y="0"/>
                  </a:cxn>
                  <a:cxn ang="0">
                    <a:pos x="30" y="7"/>
                  </a:cxn>
                  <a:cxn ang="0">
                    <a:pos x="33" y="7"/>
                  </a:cxn>
                  <a:cxn ang="0">
                    <a:pos x="33" y="10"/>
                  </a:cxn>
                  <a:cxn ang="0">
                    <a:pos x="37" y="10"/>
                  </a:cxn>
                  <a:cxn ang="0">
                    <a:pos x="37" y="12"/>
                  </a:cxn>
                  <a:cxn ang="0">
                    <a:pos x="38" y="12"/>
                  </a:cxn>
                  <a:cxn ang="0">
                    <a:pos x="40" y="12"/>
                  </a:cxn>
                  <a:cxn ang="0">
                    <a:pos x="40" y="22"/>
                  </a:cxn>
                  <a:cxn ang="0">
                    <a:pos x="37" y="22"/>
                  </a:cxn>
                  <a:cxn ang="0">
                    <a:pos x="37" y="25"/>
                  </a:cxn>
                  <a:cxn ang="0">
                    <a:pos x="33" y="25"/>
                  </a:cxn>
                  <a:cxn ang="0">
                    <a:pos x="32" y="27"/>
                  </a:cxn>
                  <a:cxn ang="0">
                    <a:pos x="31" y="27"/>
                  </a:cxn>
                  <a:cxn ang="0">
                    <a:pos x="31" y="33"/>
                  </a:cxn>
                  <a:cxn ang="0">
                    <a:pos x="29" y="33"/>
                  </a:cxn>
                  <a:cxn ang="0">
                    <a:pos x="29" y="33"/>
                  </a:cxn>
                  <a:cxn ang="0">
                    <a:pos x="29" y="39"/>
                  </a:cxn>
                  <a:cxn ang="0">
                    <a:pos x="27" y="39"/>
                  </a:cxn>
                  <a:cxn ang="0">
                    <a:pos x="27" y="72"/>
                  </a:cxn>
                  <a:cxn ang="0">
                    <a:pos x="22" y="77"/>
                  </a:cxn>
                  <a:cxn ang="0">
                    <a:pos x="15" y="71"/>
                  </a:cxn>
                  <a:cxn ang="0">
                    <a:pos x="17" y="70"/>
                  </a:cxn>
                  <a:cxn ang="0">
                    <a:pos x="17" y="68"/>
                  </a:cxn>
                  <a:cxn ang="0">
                    <a:pos x="15" y="66"/>
                  </a:cxn>
                  <a:cxn ang="0">
                    <a:pos x="17" y="65"/>
                  </a:cxn>
                  <a:cxn ang="0">
                    <a:pos x="17" y="64"/>
                  </a:cxn>
                  <a:cxn ang="0">
                    <a:pos x="15" y="63"/>
                  </a:cxn>
                  <a:cxn ang="0">
                    <a:pos x="14" y="58"/>
                  </a:cxn>
                  <a:cxn ang="0">
                    <a:pos x="14" y="58"/>
                  </a:cxn>
                  <a:cxn ang="0">
                    <a:pos x="17" y="55"/>
                  </a:cxn>
                  <a:cxn ang="0">
                    <a:pos x="17" y="53"/>
                  </a:cxn>
                  <a:cxn ang="0">
                    <a:pos x="15" y="51"/>
                  </a:cxn>
                  <a:cxn ang="0">
                    <a:pos x="17" y="49"/>
                  </a:cxn>
                  <a:cxn ang="0">
                    <a:pos x="17" y="46"/>
                  </a:cxn>
                  <a:cxn ang="0">
                    <a:pos x="15" y="43"/>
                  </a:cxn>
                  <a:cxn ang="0">
                    <a:pos x="14" y="39"/>
                  </a:cxn>
                  <a:cxn ang="0">
                    <a:pos x="11" y="39"/>
                  </a:cxn>
                  <a:cxn ang="0">
                    <a:pos x="11" y="33"/>
                  </a:cxn>
                  <a:cxn ang="0">
                    <a:pos x="10" y="33"/>
                  </a:cxn>
                  <a:cxn ang="0">
                    <a:pos x="10" y="27"/>
                  </a:cxn>
                  <a:cxn ang="0">
                    <a:pos x="8" y="27"/>
                  </a:cxn>
                  <a:cxn ang="0">
                    <a:pos x="7" y="25"/>
                  </a:cxn>
                  <a:cxn ang="0">
                    <a:pos x="3" y="25"/>
                  </a:cxn>
                  <a:cxn ang="0">
                    <a:pos x="3" y="22"/>
                  </a:cxn>
                  <a:cxn ang="0">
                    <a:pos x="0" y="22"/>
                  </a:cxn>
                  <a:cxn ang="0">
                    <a:pos x="0" y="11"/>
                  </a:cxn>
                  <a:cxn ang="0">
                    <a:pos x="3" y="11"/>
                  </a:cxn>
                  <a:cxn ang="0">
                    <a:pos x="3" y="10"/>
                  </a:cxn>
                  <a:cxn ang="0">
                    <a:pos x="6" y="10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0" y="7"/>
                  </a:cxn>
                  <a:cxn ang="0">
                    <a:pos x="14" y="0"/>
                  </a:cxn>
                </a:cxnLst>
                <a:rect l="txL" t="txT" r="txR" b="txB"/>
                <a:pathLst>
                  <a:path w="1068" h="2071">
                    <a:moveTo>
                      <a:pt x="383" y="0"/>
                    </a:moveTo>
                    <a:lnTo>
                      <a:pt x="705" y="0"/>
                    </a:lnTo>
                    <a:lnTo>
                      <a:pt x="644" y="80"/>
                    </a:lnTo>
                    <a:lnTo>
                      <a:pt x="456" y="80"/>
                    </a:lnTo>
                    <a:lnTo>
                      <a:pt x="385" y="206"/>
                    </a:lnTo>
                    <a:lnTo>
                      <a:pt x="708" y="206"/>
                    </a:lnTo>
                    <a:lnTo>
                      <a:pt x="643" y="81"/>
                    </a:lnTo>
                    <a:lnTo>
                      <a:pt x="705" y="2"/>
                    </a:lnTo>
                    <a:lnTo>
                      <a:pt x="819" y="198"/>
                    </a:lnTo>
                    <a:lnTo>
                      <a:pt x="879" y="199"/>
                    </a:lnTo>
                    <a:lnTo>
                      <a:pt x="900" y="266"/>
                    </a:lnTo>
                    <a:lnTo>
                      <a:pt x="995" y="266"/>
                    </a:lnTo>
                    <a:lnTo>
                      <a:pt x="997" y="313"/>
                    </a:lnTo>
                    <a:lnTo>
                      <a:pt x="1033" y="314"/>
                    </a:lnTo>
                    <a:lnTo>
                      <a:pt x="1068" y="314"/>
                    </a:lnTo>
                    <a:lnTo>
                      <a:pt x="1068" y="604"/>
                    </a:lnTo>
                    <a:lnTo>
                      <a:pt x="995" y="605"/>
                    </a:lnTo>
                    <a:lnTo>
                      <a:pt x="994" y="666"/>
                    </a:lnTo>
                    <a:lnTo>
                      <a:pt x="904" y="666"/>
                    </a:lnTo>
                    <a:lnTo>
                      <a:pt x="877" y="738"/>
                    </a:lnTo>
                    <a:lnTo>
                      <a:pt x="828" y="739"/>
                    </a:lnTo>
                    <a:lnTo>
                      <a:pt x="824" y="885"/>
                    </a:lnTo>
                    <a:lnTo>
                      <a:pt x="790" y="885"/>
                    </a:lnTo>
                    <a:lnTo>
                      <a:pt x="782" y="898"/>
                    </a:lnTo>
                    <a:lnTo>
                      <a:pt x="782" y="1055"/>
                    </a:lnTo>
                    <a:lnTo>
                      <a:pt x="720" y="1055"/>
                    </a:lnTo>
                    <a:lnTo>
                      <a:pt x="723" y="1937"/>
                    </a:lnTo>
                    <a:lnTo>
                      <a:pt x="582" y="2071"/>
                    </a:lnTo>
                    <a:lnTo>
                      <a:pt x="400" y="1917"/>
                    </a:lnTo>
                    <a:lnTo>
                      <a:pt x="465" y="1873"/>
                    </a:lnTo>
                    <a:lnTo>
                      <a:pt x="465" y="1823"/>
                    </a:lnTo>
                    <a:lnTo>
                      <a:pt x="400" y="1777"/>
                    </a:lnTo>
                    <a:lnTo>
                      <a:pt x="465" y="1737"/>
                    </a:lnTo>
                    <a:lnTo>
                      <a:pt x="455" y="1721"/>
                    </a:lnTo>
                    <a:lnTo>
                      <a:pt x="399" y="1685"/>
                    </a:lnTo>
                    <a:lnTo>
                      <a:pt x="389" y="1571"/>
                    </a:lnTo>
                    <a:lnTo>
                      <a:pt x="382" y="1561"/>
                    </a:lnTo>
                    <a:lnTo>
                      <a:pt x="466" y="1494"/>
                    </a:lnTo>
                    <a:lnTo>
                      <a:pt x="466" y="1437"/>
                    </a:lnTo>
                    <a:lnTo>
                      <a:pt x="399" y="1369"/>
                    </a:lnTo>
                    <a:lnTo>
                      <a:pt x="465" y="1310"/>
                    </a:lnTo>
                    <a:lnTo>
                      <a:pt x="465" y="1250"/>
                    </a:lnTo>
                    <a:lnTo>
                      <a:pt x="400" y="1173"/>
                    </a:lnTo>
                    <a:lnTo>
                      <a:pt x="388" y="1048"/>
                    </a:lnTo>
                    <a:lnTo>
                      <a:pt x="310" y="1048"/>
                    </a:lnTo>
                    <a:lnTo>
                      <a:pt x="310" y="879"/>
                    </a:lnTo>
                    <a:lnTo>
                      <a:pt x="264" y="879"/>
                    </a:lnTo>
                    <a:lnTo>
                      <a:pt x="264" y="732"/>
                    </a:lnTo>
                    <a:lnTo>
                      <a:pt x="210" y="732"/>
                    </a:lnTo>
                    <a:lnTo>
                      <a:pt x="187" y="661"/>
                    </a:lnTo>
                    <a:lnTo>
                      <a:pt x="81" y="661"/>
                    </a:lnTo>
                    <a:lnTo>
                      <a:pt x="81" y="599"/>
                    </a:lnTo>
                    <a:lnTo>
                      <a:pt x="0" y="599"/>
                    </a:lnTo>
                    <a:lnTo>
                      <a:pt x="0" y="307"/>
                    </a:lnTo>
                    <a:lnTo>
                      <a:pt x="80" y="307"/>
                    </a:lnTo>
                    <a:lnTo>
                      <a:pt x="80" y="265"/>
                    </a:lnTo>
                    <a:lnTo>
                      <a:pt x="169" y="265"/>
                    </a:lnTo>
                    <a:lnTo>
                      <a:pt x="190" y="246"/>
                    </a:lnTo>
                    <a:lnTo>
                      <a:pt x="212" y="199"/>
                    </a:lnTo>
                    <a:lnTo>
                      <a:pt x="264" y="199"/>
                    </a:lnTo>
                    <a:lnTo>
                      <a:pt x="383" y="0"/>
                    </a:lnTo>
                    <a:close/>
                  </a:path>
                </a:pathLst>
              </a:custGeom>
              <a:solidFill>
                <a:srgbClr val="BF7F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551" name="Group 81"/>
              <p:cNvGrpSpPr/>
              <p:nvPr/>
            </p:nvGrpSpPr>
            <p:grpSpPr>
              <a:xfrm>
                <a:off x="2497" y="2417"/>
                <a:ext cx="271" cy="79"/>
                <a:chOff x="2497" y="2417"/>
                <a:chExt cx="271" cy="79"/>
              </a:xfrm>
            </p:grpSpPr>
            <p:sp>
              <p:nvSpPr>
                <p:cNvPr id="22563" name="Freeform 82"/>
                <p:cNvSpPr/>
                <p:nvPr/>
              </p:nvSpPr>
              <p:spPr>
                <a:xfrm>
                  <a:off x="2497" y="2417"/>
                  <a:ext cx="252" cy="79"/>
                </a:xfrm>
                <a:custGeom>
                  <a:avLst/>
                  <a:gdLst>
                    <a:gd name="txL" fmla="*/ 0 w 755"/>
                    <a:gd name="txT" fmla="*/ 0 h 237"/>
                    <a:gd name="txR" fmla="*/ 755 w 755"/>
                    <a:gd name="txB" fmla="*/ 237 h 237"/>
                  </a:gdLst>
                  <a:ahLst/>
                  <a:cxnLst>
                    <a:cxn ang="0">
                      <a:pos x="0" y="5"/>
                    </a:cxn>
                    <a:cxn ang="0">
                      <a:pos x="2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" y="0"/>
                    </a:cxn>
                    <a:cxn ang="0">
                      <a:pos x="0" y="5"/>
                    </a:cxn>
                    <a:cxn ang="0">
                      <a:pos x="3" y="9"/>
                    </a:cxn>
                    <a:cxn ang="0">
                      <a:pos x="2" y="9"/>
                    </a:cxn>
                    <a:cxn ang="0">
                      <a:pos x="0" y="5"/>
                    </a:cxn>
                  </a:cxnLst>
                  <a:rect l="txL" t="txT" r="txR" b="txB"/>
                  <a:pathLst>
                    <a:path w="755" h="237">
                      <a:moveTo>
                        <a:pt x="0" y="123"/>
                      </a:moveTo>
                      <a:lnTo>
                        <a:pt x="66" y="0"/>
                      </a:lnTo>
                      <a:lnTo>
                        <a:pt x="755" y="0"/>
                      </a:lnTo>
                      <a:lnTo>
                        <a:pt x="748" y="9"/>
                      </a:lnTo>
                      <a:lnTo>
                        <a:pt x="74" y="9"/>
                      </a:lnTo>
                      <a:lnTo>
                        <a:pt x="13" y="123"/>
                      </a:lnTo>
                      <a:lnTo>
                        <a:pt x="72" y="230"/>
                      </a:lnTo>
                      <a:lnTo>
                        <a:pt x="61" y="237"/>
                      </a:lnTo>
                      <a:lnTo>
                        <a:pt x="0" y="123"/>
                      </a:lnTo>
                      <a:close/>
                    </a:path>
                  </a:pathLst>
                </a:custGeom>
                <a:solidFill>
                  <a:srgbClr val="BF7F3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64" name="Freeform 83"/>
                <p:cNvSpPr/>
                <p:nvPr/>
              </p:nvSpPr>
              <p:spPr>
                <a:xfrm>
                  <a:off x="2517" y="2417"/>
                  <a:ext cx="251" cy="79"/>
                </a:xfrm>
                <a:custGeom>
                  <a:avLst/>
                  <a:gdLst>
                    <a:gd name="txL" fmla="*/ 0 w 754"/>
                    <a:gd name="txT" fmla="*/ 0 h 237"/>
                    <a:gd name="txR" fmla="*/ 754 w 754"/>
                    <a:gd name="txB" fmla="*/ 237 h 237"/>
                  </a:gdLst>
                  <a:ahLst/>
                  <a:cxnLst>
                    <a:cxn ang="0">
                      <a:pos x="28" y="4"/>
                    </a:cxn>
                    <a:cxn ang="0">
                      <a:pos x="25" y="9"/>
                    </a:cxn>
                    <a:cxn ang="0">
                      <a:pos x="0" y="9"/>
                    </a:cxn>
                    <a:cxn ang="0">
                      <a:pos x="0" y="8"/>
                    </a:cxn>
                    <a:cxn ang="0">
                      <a:pos x="25" y="8"/>
                    </a:cxn>
                    <a:cxn ang="0">
                      <a:pos x="27" y="4"/>
                    </a:cxn>
                    <a:cxn ang="0">
                      <a:pos x="25" y="0"/>
                    </a:cxn>
                    <a:cxn ang="0">
                      <a:pos x="26" y="0"/>
                    </a:cxn>
                    <a:cxn ang="0">
                      <a:pos x="28" y="4"/>
                    </a:cxn>
                  </a:cxnLst>
                  <a:rect l="txL" t="txT" r="txR" b="txB"/>
                  <a:pathLst>
                    <a:path w="754" h="237">
                      <a:moveTo>
                        <a:pt x="754" y="113"/>
                      </a:moveTo>
                      <a:lnTo>
                        <a:pt x="688" y="237"/>
                      </a:lnTo>
                      <a:lnTo>
                        <a:pt x="0" y="237"/>
                      </a:lnTo>
                      <a:lnTo>
                        <a:pt x="6" y="228"/>
                      </a:lnTo>
                      <a:lnTo>
                        <a:pt x="681" y="228"/>
                      </a:lnTo>
                      <a:lnTo>
                        <a:pt x="742" y="113"/>
                      </a:lnTo>
                      <a:lnTo>
                        <a:pt x="682" y="7"/>
                      </a:lnTo>
                      <a:lnTo>
                        <a:pt x="693" y="0"/>
                      </a:lnTo>
                      <a:lnTo>
                        <a:pt x="754" y="113"/>
                      </a:lnTo>
                      <a:close/>
                    </a:path>
                  </a:pathLst>
                </a:custGeom>
                <a:solidFill>
                  <a:srgbClr val="FF9F00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552" name="Rectangle 84"/>
              <p:cNvSpPr/>
              <p:nvPr/>
            </p:nvSpPr>
            <p:spPr>
              <a:xfrm>
                <a:off x="2476" y="2405"/>
                <a:ext cx="301" cy="4"/>
              </a:xfrm>
              <a:prstGeom prst="rect">
                <a:avLst/>
              </a:prstGeom>
              <a:solidFill>
                <a:srgbClr val="FF9F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3" name="Rectangle 85"/>
              <p:cNvSpPr/>
              <p:nvPr/>
            </p:nvSpPr>
            <p:spPr>
              <a:xfrm>
                <a:off x="2505" y="2390"/>
                <a:ext cx="236" cy="4"/>
              </a:xfrm>
              <a:prstGeom prst="rect">
                <a:avLst/>
              </a:prstGeom>
              <a:solidFill>
                <a:srgbClr val="FF9F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554" name="Group 86"/>
              <p:cNvGrpSpPr/>
              <p:nvPr/>
            </p:nvGrpSpPr>
            <p:grpSpPr>
              <a:xfrm>
                <a:off x="2475" y="2507"/>
                <a:ext cx="304" cy="489"/>
                <a:chOff x="2475" y="2507"/>
                <a:chExt cx="304" cy="489"/>
              </a:xfrm>
            </p:grpSpPr>
            <p:sp>
              <p:nvSpPr>
                <p:cNvPr id="22555" name="Freeform 87"/>
                <p:cNvSpPr/>
                <p:nvPr/>
              </p:nvSpPr>
              <p:spPr>
                <a:xfrm>
                  <a:off x="2614" y="2602"/>
                  <a:ext cx="7" cy="377"/>
                </a:xfrm>
                <a:custGeom>
                  <a:avLst/>
                  <a:gdLst>
                    <a:gd name="txL" fmla="*/ 0 w 23"/>
                    <a:gd name="txT" fmla="*/ 0 h 1131"/>
                    <a:gd name="txR" fmla="*/ 23 w 23"/>
                    <a:gd name="txB" fmla="*/ 1131 h 1131"/>
                  </a:gdLst>
                  <a:ahLst/>
                  <a:cxnLst>
                    <a:cxn ang="0">
                      <a:pos x="1" y="0"/>
                    </a:cxn>
                    <a:cxn ang="0">
                      <a:pos x="1" y="42"/>
                    </a:cxn>
                    <a:cxn ang="0">
                      <a:pos x="0" y="4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23" h="1131">
                      <a:moveTo>
                        <a:pt x="23" y="0"/>
                      </a:moveTo>
                      <a:lnTo>
                        <a:pt x="22" y="1131"/>
                      </a:lnTo>
                      <a:lnTo>
                        <a:pt x="2" y="1113"/>
                      </a:lnTo>
                      <a:lnTo>
                        <a:pt x="0" y="35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F9F00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56" name="Freeform 88"/>
                <p:cNvSpPr/>
                <p:nvPr/>
              </p:nvSpPr>
              <p:spPr>
                <a:xfrm>
                  <a:off x="2657" y="2612"/>
                  <a:ext cx="7" cy="368"/>
                </a:xfrm>
                <a:custGeom>
                  <a:avLst/>
                  <a:gdLst>
                    <a:gd name="txL" fmla="*/ 0 w 21"/>
                    <a:gd name="txT" fmla="*/ 0 h 1103"/>
                    <a:gd name="txR" fmla="*/ 21 w 21"/>
                    <a:gd name="txB" fmla="*/ 1103 h 1103"/>
                  </a:gdLst>
                  <a:ahLst/>
                  <a:cxnLst>
                    <a:cxn ang="0">
                      <a:pos x="1" y="0"/>
                    </a:cxn>
                    <a:cxn ang="0">
                      <a:pos x="1" y="40"/>
                    </a:cxn>
                    <a:cxn ang="0">
                      <a:pos x="0" y="41"/>
                    </a:cxn>
                    <a:cxn ang="0">
                      <a:pos x="0" y="3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21" h="1103">
                      <a:moveTo>
                        <a:pt x="17" y="0"/>
                      </a:moveTo>
                      <a:lnTo>
                        <a:pt x="21" y="1084"/>
                      </a:lnTo>
                      <a:lnTo>
                        <a:pt x="2" y="1103"/>
                      </a:lnTo>
                      <a:lnTo>
                        <a:pt x="0" y="89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9F00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2557" name="Group 89"/>
                <p:cNvGrpSpPr/>
                <p:nvPr/>
              </p:nvGrpSpPr>
              <p:grpSpPr>
                <a:xfrm>
                  <a:off x="2475" y="2507"/>
                  <a:ext cx="304" cy="489"/>
                  <a:chOff x="2475" y="2507"/>
                  <a:chExt cx="304" cy="489"/>
                </a:xfrm>
              </p:grpSpPr>
              <p:sp>
                <p:nvSpPr>
                  <p:cNvPr id="22558" name="Rectangle 90"/>
                  <p:cNvSpPr/>
                  <p:nvPr/>
                </p:nvSpPr>
                <p:spPr>
                  <a:xfrm>
                    <a:off x="2475" y="2507"/>
                    <a:ext cx="304" cy="9"/>
                  </a:xfrm>
                  <a:prstGeom prst="rect">
                    <a:avLst/>
                  </a:prstGeom>
                  <a:solidFill>
                    <a:srgbClr val="BF7F3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59" name="Rectangle 91"/>
                  <p:cNvSpPr/>
                  <p:nvPr/>
                </p:nvSpPr>
                <p:spPr>
                  <a:xfrm>
                    <a:off x="2537" y="2552"/>
                    <a:ext cx="186" cy="9"/>
                  </a:xfrm>
                  <a:prstGeom prst="rect">
                    <a:avLst/>
                  </a:prstGeom>
                  <a:solidFill>
                    <a:srgbClr val="BF7F3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60" name="Freeform 92"/>
                  <p:cNvSpPr/>
                  <p:nvPr/>
                </p:nvSpPr>
                <p:spPr>
                  <a:xfrm>
                    <a:off x="2640" y="2613"/>
                    <a:ext cx="23" cy="383"/>
                  </a:xfrm>
                  <a:custGeom>
                    <a:avLst/>
                    <a:gdLst>
                      <a:gd name="txL" fmla="*/ 0 w 69"/>
                      <a:gd name="txT" fmla="*/ 0 h 1148"/>
                      <a:gd name="txR" fmla="*/ 69 w 69"/>
                      <a:gd name="txB" fmla="*/ 1148 h 1148"/>
                    </a:gdLst>
                    <a:ahLst/>
                    <a:cxnLst>
                      <a:cxn ang="0">
                        <a:pos x="3" y="0"/>
                      </a:cxn>
                      <a:cxn ang="0">
                        <a:pos x="2" y="3"/>
                      </a:cxn>
                      <a:cxn ang="0">
                        <a:pos x="1" y="5"/>
                      </a:cxn>
                      <a:cxn ang="0">
                        <a:pos x="1" y="42"/>
                      </a:cxn>
                      <a:cxn ang="0">
                        <a:pos x="0" y="43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txL" t="txT" r="txR" b="txB"/>
                    <a:pathLst>
                      <a:path w="69" h="1148">
                        <a:moveTo>
                          <a:pt x="69" y="0"/>
                        </a:moveTo>
                        <a:lnTo>
                          <a:pt x="53" y="75"/>
                        </a:lnTo>
                        <a:lnTo>
                          <a:pt x="26" y="139"/>
                        </a:lnTo>
                        <a:lnTo>
                          <a:pt x="26" y="1127"/>
                        </a:lnTo>
                        <a:lnTo>
                          <a:pt x="5" y="1148"/>
                        </a:lnTo>
                        <a:lnTo>
                          <a:pt x="0" y="121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61" name="Freeform 93"/>
                  <p:cNvSpPr/>
                  <p:nvPr/>
                </p:nvSpPr>
                <p:spPr>
                  <a:xfrm>
                    <a:off x="2551" y="2599"/>
                    <a:ext cx="161" cy="57"/>
                  </a:xfrm>
                  <a:custGeom>
                    <a:avLst/>
                    <a:gdLst>
                      <a:gd name="txL" fmla="*/ 0 w 485"/>
                      <a:gd name="txT" fmla="*/ 0 h 172"/>
                      <a:gd name="txR" fmla="*/ 485 w 485"/>
                      <a:gd name="txB" fmla="*/ 172 h 172"/>
                    </a:gdLst>
                    <a:ahLst/>
                    <a:cxnLst>
                      <a:cxn ang="0">
                        <a:pos x="3" y="6"/>
                      </a:cxn>
                      <a:cxn ang="0">
                        <a:pos x="2" y="5"/>
                      </a:cxn>
                      <a:cxn ang="0">
                        <a:pos x="2" y="1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18" y="0"/>
                      </a:cxn>
                      <a:cxn ang="0">
                        <a:pos x="17" y="1"/>
                      </a:cxn>
                      <a:cxn ang="0">
                        <a:pos x="8" y="1"/>
                      </a:cxn>
                      <a:cxn ang="0">
                        <a:pos x="7" y="2"/>
                      </a:cxn>
                      <a:cxn ang="0">
                        <a:pos x="3" y="2"/>
                      </a:cxn>
                      <a:cxn ang="0">
                        <a:pos x="3" y="6"/>
                      </a:cxn>
                    </a:cxnLst>
                    <a:rect l="txL" t="txT" r="txR" b="txB"/>
                    <a:pathLst>
                      <a:path w="485" h="172">
                        <a:moveTo>
                          <a:pt x="82" y="172"/>
                        </a:moveTo>
                        <a:lnTo>
                          <a:pt x="49" y="134"/>
                        </a:lnTo>
                        <a:lnTo>
                          <a:pt x="49" y="20"/>
                        </a:lnTo>
                        <a:lnTo>
                          <a:pt x="0" y="20"/>
                        </a:lnTo>
                        <a:lnTo>
                          <a:pt x="0" y="0"/>
                        </a:lnTo>
                        <a:lnTo>
                          <a:pt x="485" y="0"/>
                        </a:lnTo>
                        <a:lnTo>
                          <a:pt x="473" y="20"/>
                        </a:lnTo>
                        <a:lnTo>
                          <a:pt x="211" y="20"/>
                        </a:lnTo>
                        <a:lnTo>
                          <a:pt x="189" y="52"/>
                        </a:lnTo>
                        <a:lnTo>
                          <a:pt x="92" y="52"/>
                        </a:lnTo>
                        <a:lnTo>
                          <a:pt x="82" y="172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62" name="Freeform 94"/>
                  <p:cNvSpPr/>
                  <p:nvPr/>
                </p:nvSpPr>
                <p:spPr>
                  <a:xfrm>
                    <a:off x="2510" y="2526"/>
                    <a:ext cx="239" cy="8"/>
                  </a:xfrm>
                  <a:custGeom>
                    <a:avLst/>
                    <a:gdLst>
                      <a:gd name="txL" fmla="*/ 0 w 718"/>
                      <a:gd name="txT" fmla="*/ 0 h 24"/>
                      <a:gd name="txR" fmla="*/ 718 w 718"/>
                      <a:gd name="txB" fmla="*/ 24 h 24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7" y="0"/>
                      </a:cxn>
                      <a:cxn ang="0">
                        <a:pos x="26" y="1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718" h="24">
                        <a:moveTo>
                          <a:pt x="0" y="2"/>
                        </a:moveTo>
                        <a:lnTo>
                          <a:pt x="718" y="0"/>
                        </a:lnTo>
                        <a:lnTo>
                          <a:pt x="711" y="23"/>
                        </a:lnTo>
                        <a:lnTo>
                          <a:pt x="6" y="24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22548" name="Text Box 95"/>
            <p:cNvSpPr txBox="1"/>
            <p:nvPr/>
          </p:nvSpPr>
          <p:spPr>
            <a:xfrm>
              <a:off x="960" y="720"/>
              <a:ext cx="4180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Because the non-leaf nodes of a B+ tree do not store actual data, they can store more keys. 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3784" name="AutoShape 56"/>
          <p:cNvSpPr/>
          <p:nvPr/>
        </p:nvSpPr>
        <p:spPr>
          <a:xfrm>
            <a:off x="2635885" y="1502410"/>
            <a:ext cx="3389630" cy="2327910"/>
          </a:xfrm>
          <a:prstGeom prst="cloudCallout">
            <a:avLst>
              <a:gd name="adj1" fmla="val 33579"/>
              <a:gd name="adj2" fmla="val 71259"/>
            </a:avLst>
          </a:prstGeom>
          <a:gradFill rotWithShape="0">
            <a:gsLst>
              <a:gs pos="0">
                <a:srgbClr val="CCFFCC"/>
              </a:gs>
              <a:gs pos="100000">
                <a:srgbClr val="AFDBAF"/>
              </a:gs>
            </a:gsLst>
            <a:lin ang="2700000" scaled="1"/>
            <a:tileRect/>
          </a:gradFill>
          <a:ln w="9525" cap="flat" cmpd="sng">
            <a:solidFill>
              <a:srgbClr val="CCFF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8000" b="1" dirty="0">
                <a:latin typeface="Times New Roman" panose="02020603050405020304" pitchFamily="18" charset="0"/>
              </a:rPr>
              <a:t>    </a:t>
            </a:r>
            <a:r>
              <a:rPr lang="zh-CN" altLang="en-US" sz="8000" b="1" dirty="0">
                <a:latin typeface="Times New Roman" panose="02020603050405020304" pitchFamily="18" charset="0"/>
              </a:rPr>
              <a:t>？</a:t>
            </a:r>
            <a:endParaRPr lang="zh-CN" altLang="en-US" sz="8000" b="1" dirty="0">
              <a:latin typeface="Times New Roman" panose="02020603050405020304" pitchFamily="18" charset="0"/>
            </a:endParaRPr>
          </a:p>
        </p:txBody>
      </p:sp>
      <p:sp>
        <p:nvSpPr>
          <p:cNvPr id="72724" name="AutoShape 20"/>
          <p:cNvSpPr/>
          <p:nvPr/>
        </p:nvSpPr>
        <p:spPr>
          <a:xfrm>
            <a:off x="1403985" y="1171575"/>
            <a:ext cx="8667115" cy="4592320"/>
          </a:xfrm>
          <a:prstGeom prst="irregularSeal2">
            <a:avLst/>
          </a:prstGeom>
          <a:gradFill rotWithShape="0">
            <a:gsLst>
              <a:gs pos="0">
                <a:schemeClr val="bg1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  <a:tileRect/>
          </a:gradFill>
          <a:ln w="25400">
            <a:noFill/>
          </a:ln>
        </p:spPr>
        <p:txBody>
          <a:bodyPr wrap="none" anchor="ctr" anchorCtr="0"/>
          <a:p>
            <a:pPr algn="ctr"/>
            <a:r>
              <a:rPr lang="en-US" altLang="zh-CN" b="1" i="1" dirty="0">
                <a:latin typeface="Times New Roman" panose="02020603050405020304" pitchFamily="18" charset="0"/>
              </a:rPr>
              <a:t>Space is limited.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</a:rPr>
              <a:t>What a node can hold is limited.</a:t>
            </a:r>
            <a:endParaRPr lang="en-US" altLang="zh-CN" b="1" i="1" dirty="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" dur="500"/>
                                        <p:tgtEl>
                                          <p:spTgt spid="737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84" grpId="0" bldLvl="0" animBg="1"/>
      <p:bldP spid="7272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022715" y="0"/>
            <a:ext cx="3112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base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B+ Tree and Datebase System</a:t>
            </a:r>
            <a:endParaRPr lang="en-US" altLang="zh-CN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60095" y="167640"/>
            <a:ext cx="4568190" cy="707390"/>
            <a:chOff x="1197" y="264"/>
            <a:chExt cx="7194" cy="1114"/>
          </a:xfrm>
        </p:grpSpPr>
        <p:graphicFrame>
          <p:nvGraphicFramePr>
            <p:cNvPr id="9218" name="Object 4"/>
            <p:cNvGraphicFramePr/>
            <p:nvPr/>
          </p:nvGraphicFramePr>
          <p:xfrm>
            <a:off x="1197" y="264"/>
            <a:ext cx="1584" cy="1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" imgW="4178935" imgH="3215640" progId="MS_ClipArt_Gallery.2">
                    <p:embed/>
                  </p:oleObj>
                </mc:Choice>
                <mc:Fallback>
                  <p:oleObj name="" r:id="rId1" imgW="4178935" imgH="3215640" progId="MS_ClipArt_Gallery.2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97" y="264"/>
                          <a:ext cx="1584" cy="11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2" name="Text Box 3"/>
            <p:cNvSpPr txBox="1"/>
            <p:nvPr/>
          </p:nvSpPr>
          <p:spPr>
            <a:xfrm>
              <a:off x="2781" y="496"/>
              <a:ext cx="5611" cy="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Detailed analyze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AutoShape 4"/>
          <p:cNvSpPr/>
          <p:nvPr/>
        </p:nvSpPr>
        <p:spPr>
          <a:xfrm>
            <a:off x="853440" y="1446530"/>
            <a:ext cx="5012690" cy="297561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chemeClr val="bg1"/>
              </a:gs>
              <a:gs pos="100000">
                <a:srgbClr val="FFFFCC"/>
              </a:gs>
            </a:gsLst>
            <a:lin ang="4800000" scaled="1"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80000" tIns="118800" rIns="36000" bIns="46800">
            <a:noAutofit/>
          </a:bodyPr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Entry size = Key(8 bytes) + Data Pointer(6 bytes) + Child Pointer(6 bytes) = 20 bytes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Overhead ≈ 32 bytes (node metadata)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Usable space = 4096 - 32 = 4064 bytes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Max keys ≈ 4064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÷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20 ≈ 203 keys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5715" name="Text Box 3"/>
          <p:cNvSpPr txBox="1"/>
          <p:nvPr/>
        </p:nvSpPr>
        <p:spPr>
          <a:xfrm>
            <a:off x="760095" y="924560"/>
            <a:ext cx="4316730" cy="52197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Number of Keys per Node in a B-tree: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2" name="AutoShape 4"/>
          <p:cNvSpPr/>
          <p:nvPr/>
        </p:nvSpPr>
        <p:spPr>
          <a:xfrm>
            <a:off x="6638925" y="1446530"/>
            <a:ext cx="4947285" cy="2975610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chemeClr val="bg1"/>
              </a:gs>
              <a:gs pos="100000">
                <a:srgbClr val="FFFFCC"/>
              </a:gs>
            </a:gsLst>
            <a:lin ang="4800000" scaled="1"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80000" tIns="118800" rIns="36000" bIns="46800">
            <a:noAutofit/>
          </a:bodyPr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Entry size = Key(8 bytes) + Child Pointer(6 bytes) = 14 bytes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Overhead ≈ 32 bytes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Usable space = 4096 - 32 = 4064 bytes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290830" lvl="0" indent="-290830" algn="l" fontAlgn="base">
              <a:buClrTx/>
              <a:buSzTx/>
              <a:buFontTx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Max keys ≈ 4064 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÷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14 ≈ 290 keys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4841" name="AutoShape 89"/>
          <p:cNvSpPr/>
          <p:nvPr/>
        </p:nvSpPr>
        <p:spPr>
          <a:xfrm>
            <a:off x="3608705" y="213360"/>
            <a:ext cx="4752975" cy="1059815"/>
          </a:xfrm>
          <a:prstGeom prst="wedgeEllipseCallout">
            <a:avLst>
              <a:gd name="adj1" fmla="val -19574"/>
              <a:gd name="adj2" fmla="val 94236"/>
            </a:avLst>
          </a:prstGeom>
          <a:gradFill rotWithShape="1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zh-CN" sz="1400" b="1" dirty="0">
                <a:latin typeface="Times New Roman" panose="02020603050405020304" pitchFamily="18" charset="0"/>
              </a:rPr>
              <a:t>Node Size: 4KB (4096 bytes</a:t>
            </a:r>
            <a:r>
              <a:rPr lang="zh-CN" altLang="en-US" sz="1400" b="1" dirty="0">
                <a:latin typeface="Times New Roman" panose="02020603050405020304" pitchFamily="18" charset="0"/>
              </a:rPr>
              <a:t>）</a:t>
            </a:r>
            <a:endParaRPr lang="en-US" altLang="zh-CN" sz="1400" b="1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</a:rPr>
              <a:t>Key Size: 8 bytes (e.g., a BIGINT)</a:t>
            </a:r>
            <a:endParaRPr lang="en-US" altLang="zh-CN" sz="1400" b="1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</a:rPr>
              <a:t>Pointer Size: 6 bytes</a:t>
            </a:r>
            <a:endParaRPr lang="en-US" altLang="zh-CN" sz="1400" b="1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</a:rPr>
              <a:t>Data Pointer Size: 6 bytes</a:t>
            </a:r>
            <a:endParaRPr lang="en-US" altLang="zh-CN" sz="1400" b="1" dirty="0">
              <a:latin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160780" y="4727575"/>
            <a:ext cx="8317230" cy="1642745"/>
            <a:chOff x="1828" y="7445"/>
            <a:chExt cx="13098" cy="2587"/>
          </a:xfrm>
        </p:grpSpPr>
        <p:sp>
          <p:nvSpPr>
            <p:cNvPr id="115719" name="Text Box 7"/>
            <p:cNvSpPr txBox="1"/>
            <p:nvPr/>
          </p:nvSpPr>
          <p:spPr>
            <a:xfrm>
              <a:off x="1828" y="7445"/>
              <a:ext cx="11340" cy="7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no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Assuming 100 million records:</a:t>
              </a:r>
              <a:endParaRPr lang="en-US" altLang="zh-CN" sz="20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4" name="对象 1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828" y="8174"/>
            <a:ext cx="13099" cy="1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3" imgW="2933700" imgH="457200" progId="Equation.KSEE3">
                    <p:embed/>
                  </p:oleObj>
                </mc:Choice>
                <mc:Fallback>
                  <p:oleObj name="" r:id="rId3" imgW="2933700" imgH="457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28" y="8174"/>
                          <a:ext cx="13099" cy="18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3"/>
          <p:cNvSpPr txBox="1"/>
          <p:nvPr/>
        </p:nvSpPr>
        <p:spPr>
          <a:xfrm>
            <a:off x="7369175" y="924560"/>
            <a:ext cx="4316730" cy="52197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Number of Keys per Node in a B+tree: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4841" grpId="0" bldLvl="0" animBg="1"/>
      <p:bldP spid="115715" grpId="0"/>
      <p:bldP spid="12" grpId="0" bldLvl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965008" y="883603"/>
            <a:ext cx="7631113" cy="5089525"/>
          </a:xfrm>
          <a:prstGeom prst="rect">
            <a:avLst/>
          </a:prstGeo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Reference:</a:t>
            </a:r>
            <a:endParaRPr kumimoji="1" lang="zh-CN" altLang="zh-CN" sz="32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Introduction to Algorithms, 3rd Edition: 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Ch.16, p. 415-437</a:t>
            </a:r>
            <a:r>
              <a:rPr kumimoji="1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；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Thomas H. </a:t>
            </a:r>
            <a:r>
              <a:rPr kumimoji="1" lang="en-US" altLang="zh-CN" sz="2400" b="1" i="1" u="none" strike="noStrike" kern="1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Cormen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Charles E. </a:t>
            </a:r>
            <a:r>
              <a:rPr kumimoji="1" lang="en-US" altLang="zh-CN" sz="2400" b="1" i="1" u="none" strike="noStrike" kern="1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Leiserson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Ronald L. </a:t>
            </a:r>
            <a:r>
              <a:rPr kumimoji="1" lang="en-US" altLang="zh-CN" sz="2400" b="1" i="1" u="none" strike="noStrike" kern="1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Rivest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and Clifford Stein. The MIT Press. 2009</a:t>
            </a:r>
            <a:endParaRPr kumimoji="1" lang="en-US" altLang="zh-CN" sz="2400" b="1" i="1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22715" y="0"/>
            <a:ext cx="3112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base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B+ Tree and Datebase System</a:t>
            </a:r>
            <a:endParaRPr lang="en-US" altLang="zh-CN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resource_record_key" val="{&quot;10&quot;:[215827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3702</Words>
  <Application>WPS 演示</Application>
  <PresentationFormat>宽屏</PresentationFormat>
  <Paragraphs>159</Paragraphs>
  <Slides>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Times New Roman</vt:lpstr>
      <vt:lpstr>Impact</vt:lpstr>
      <vt:lpstr>Webdings</vt:lpstr>
      <vt:lpstr>Symbol</vt:lpstr>
      <vt:lpstr>微软雅黑</vt:lpstr>
      <vt:lpstr>Arial Unicode MS</vt:lpstr>
      <vt:lpstr>Calibri</vt:lpstr>
      <vt:lpstr>var(--dsw-font-markdown-base)</vt:lpstr>
      <vt:lpstr>quote-cjk-patch</vt:lpstr>
      <vt:lpstr>Segoe Print</vt:lpstr>
      <vt:lpstr>WPS</vt:lpstr>
      <vt:lpstr>MS_ClipArt_Gallery.2</vt:lpstr>
      <vt:lpstr>MS_ClipArt_Gallery.2</vt:lpstr>
      <vt:lpstr>MS_ClipArt_Gallery.2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蔡辰逸</cp:lastModifiedBy>
  <cp:revision>168</cp:revision>
  <dcterms:created xsi:type="dcterms:W3CDTF">2019-06-19T02:08:00Z</dcterms:created>
  <dcterms:modified xsi:type="dcterms:W3CDTF">2025-10-13T03:12:02Z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E278CAA9F37540C888693A4B51CC2A88_11</vt:lpwstr>
  </property>
</Properties>
</file>